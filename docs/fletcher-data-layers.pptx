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5E59"/>
        </a:solidFill>
      </p:bgPr>
    </p:bg>
    <p:spTree>
      <p:nvGrpSpPr>
        <p:cNvPr id="1" name=""/>
        <p:cNvGrpSpPr/>
        <p:nvPr/>
      </p:nvGrpSpPr>
      <p:grpSpPr>
        <a:xfrm>
          <a:off x="0" y="0"/>
          <a:ext cx="0" cy="0"/>
          <a:chOff x="0" y="0"/>
          <a:chExt cx="0" cy="0"/>
        </a:xfrm>
      </p:grpSpPr>
      <p:sp>
        <p:nvSpPr>
          <p:cNvPr id="2" name="Text 0"/>
          <p:cNvSpPr/>
          <p:nvPr/>
        </p:nvSpPr>
        <p:spPr>
          <a:xfrm>
            <a:off x="640080" y="914400"/>
            <a:ext cx="7315200" cy="1280160"/>
          </a:xfrm>
          <a:prstGeom prst="rect">
            <a:avLst/>
          </a:prstGeom>
          <a:noFill/>
          <a:ln/>
        </p:spPr>
        <p:txBody>
          <a:bodyPr wrap="square" lIns="0" tIns="0" rIns="0" bIns="0" rtlCol="0" anchor="ctr"/>
          <a:lstStyle/>
          <a:p>
            <a:pPr indent="0" marL="0">
              <a:buNone/>
            </a:pPr>
            <a:r>
              <a:rPr lang="en-US" sz="8400" i="1" dirty="0">
                <a:solidFill>
                  <a:srgbClr val="FFFFFF"/>
                </a:solidFill>
                <a:latin typeface="Cambria" pitchFamily="34" charset="0"/>
                <a:ea typeface="Cambria" pitchFamily="34" charset="-122"/>
                <a:cs typeface="Cambria" pitchFamily="34" charset="-120"/>
              </a:rPr>
              <a:t>Fletcher</a:t>
            </a:r>
            <a:endParaRPr lang="en-US" sz="8400" dirty="0"/>
          </a:p>
        </p:txBody>
      </p:sp>
      <p:sp>
        <p:nvSpPr>
          <p:cNvPr id="3" name="Text 1"/>
          <p:cNvSpPr/>
          <p:nvPr/>
        </p:nvSpPr>
        <p:spPr>
          <a:xfrm>
            <a:off x="713232" y="2286000"/>
            <a:ext cx="7772400" cy="548640"/>
          </a:xfrm>
          <a:prstGeom prst="rect">
            <a:avLst/>
          </a:prstGeom>
          <a:noFill/>
          <a:ln/>
        </p:spPr>
        <p:txBody>
          <a:bodyPr wrap="square" lIns="0" tIns="0" rIns="0" bIns="0" rtlCol="0" anchor="ctr"/>
          <a:lstStyle/>
          <a:p>
            <a:pPr indent="0" marL="0">
              <a:buNone/>
            </a:pPr>
            <a:r>
              <a:rPr lang="en-US" sz="2800" i="1" dirty="0">
                <a:solidFill>
                  <a:srgbClr val="CCFBF1"/>
                </a:solidFill>
                <a:latin typeface="Cambria" pitchFamily="34" charset="0"/>
                <a:ea typeface="Cambria" pitchFamily="34" charset="-122"/>
                <a:cs typeface="Cambria" pitchFamily="34" charset="-120"/>
              </a:rPr>
              <a:t>Where the knowledge lives.</a:t>
            </a:r>
            <a:endParaRPr lang="en-US" sz="2800" dirty="0"/>
          </a:p>
        </p:txBody>
      </p:sp>
      <p:sp>
        <p:nvSpPr>
          <p:cNvPr id="4" name="Text 2"/>
          <p:cNvSpPr/>
          <p:nvPr/>
        </p:nvSpPr>
        <p:spPr>
          <a:xfrm>
            <a:off x="713232" y="2880360"/>
            <a:ext cx="7772400" cy="411480"/>
          </a:xfrm>
          <a:prstGeom prst="rect">
            <a:avLst/>
          </a:prstGeom>
          <a:noFill/>
          <a:ln/>
        </p:spPr>
        <p:txBody>
          <a:bodyPr wrap="square" lIns="0" tIns="0" rIns="0" bIns="0" rtlCol="0" anchor="ctr"/>
          <a:lstStyle/>
          <a:p>
            <a:pPr indent="0" marL="0">
              <a:buNone/>
            </a:pPr>
            <a:r>
              <a:rPr lang="en-US" sz="1500" dirty="0">
                <a:solidFill>
                  <a:srgbClr val="A7F3D0"/>
                </a:solidFill>
                <a:latin typeface="Calibri" pitchFamily="34" charset="0"/>
                <a:ea typeface="Calibri" pitchFamily="34" charset="-122"/>
                <a:cs typeface="Calibri" pitchFamily="34" charset="-120"/>
              </a:rPr>
              <a:t>An AI operations co-pilot for German property management — and how it thinks.</a:t>
            </a:r>
            <a:endParaRPr lang="en-US" sz="1500" dirty="0"/>
          </a:p>
        </p:txBody>
      </p:sp>
      <p:sp>
        <p:nvSpPr>
          <p:cNvPr id="5" name="Shape 3"/>
          <p:cNvSpPr/>
          <p:nvPr/>
        </p:nvSpPr>
        <p:spPr>
          <a:xfrm>
            <a:off x="713232" y="3429000"/>
            <a:ext cx="548640" cy="18288"/>
          </a:xfrm>
          <a:prstGeom prst="rect">
            <a:avLst/>
          </a:prstGeom>
          <a:solidFill>
            <a:srgbClr val="5EEAD4"/>
          </a:solidFill>
          <a:ln/>
        </p:spPr>
      </p:sp>
      <p:sp>
        <p:nvSpPr>
          <p:cNvPr id="6" name="Text 4"/>
          <p:cNvSpPr/>
          <p:nvPr/>
        </p:nvSpPr>
        <p:spPr>
          <a:xfrm>
            <a:off x="713232" y="3520440"/>
            <a:ext cx="7772400" cy="274320"/>
          </a:xfrm>
          <a:prstGeom prst="rect">
            <a:avLst/>
          </a:prstGeom>
          <a:noFill/>
          <a:ln/>
        </p:spPr>
        <p:txBody>
          <a:bodyPr wrap="square" lIns="0" tIns="0" rIns="0" bIns="0" rtlCol="0" anchor="ctr"/>
          <a:lstStyle/>
          <a:p>
            <a:pPr indent="0" marL="0">
              <a:buNone/>
            </a:pPr>
            <a:r>
              <a:rPr lang="en-US" sz="1100" b="1" spc="300" kern="0" dirty="0">
                <a:solidFill>
                  <a:srgbClr val="5EEAD4"/>
                </a:solidFill>
                <a:latin typeface="Calibri" pitchFamily="34" charset="0"/>
                <a:ea typeface="Calibri" pitchFamily="34" charset="-122"/>
                <a:cs typeface="Calibri" pitchFamily="34" charset="-120"/>
              </a:rPr>
              <a:t>Applied AI Hackathon · May 2026</a:t>
            </a:r>
            <a:endParaRPr lang="en-US" sz="1100" dirty="0"/>
          </a:p>
        </p:txBody>
      </p:sp>
      <p:sp>
        <p:nvSpPr>
          <p:cNvPr id="7" name="Shape 5"/>
          <p:cNvSpPr/>
          <p:nvPr/>
        </p:nvSpPr>
        <p:spPr>
          <a:xfrm>
            <a:off x="7589520" y="822960"/>
            <a:ext cx="73152" cy="73152"/>
          </a:xfrm>
          <a:prstGeom prst="ellipse">
            <a:avLst/>
          </a:prstGeom>
          <a:solidFill>
            <a:srgbClr val="14B8A6">
              <a:alpha val="50000"/>
            </a:srgbClr>
          </a:solidFill>
          <a:ln/>
        </p:spPr>
      </p:sp>
      <p:sp>
        <p:nvSpPr>
          <p:cNvPr id="8" name="Shape 6"/>
          <p:cNvSpPr/>
          <p:nvPr/>
        </p:nvSpPr>
        <p:spPr>
          <a:xfrm>
            <a:off x="7909560" y="822960"/>
            <a:ext cx="73152" cy="73152"/>
          </a:xfrm>
          <a:prstGeom prst="ellipse">
            <a:avLst/>
          </a:prstGeom>
          <a:solidFill>
            <a:srgbClr val="14B8A6">
              <a:alpha val="50000"/>
            </a:srgbClr>
          </a:solidFill>
          <a:ln/>
        </p:spPr>
      </p:sp>
      <p:sp>
        <p:nvSpPr>
          <p:cNvPr id="9" name="Shape 7"/>
          <p:cNvSpPr/>
          <p:nvPr/>
        </p:nvSpPr>
        <p:spPr>
          <a:xfrm>
            <a:off x="8229600" y="822960"/>
            <a:ext cx="73152" cy="73152"/>
          </a:xfrm>
          <a:prstGeom prst="ellipse">
            <a:avLst/>
          </a:prstGeom>
          <a:solidFill>
            <a:srgbClr val="14B8A6">
              <a:alpha val="50000"/>
            </a:srgbClr>
          </a:solidFill>
          <a:ln/>
        </p:spPr>
      </p:sp>
      <p:sp>
        <p:nvSpPr>
          <p:cNvPr id="10" name="Shape 8"/>
          <p:cNvSpPr/>
          <p:nvPr/>
        </p:nvSpPr>
        <p:spPr>
          <a:xfrm>
            <a:off x="7589520" y="1371600"/>
            <a:ext cx="73152" cy="73152"/>
          </a:xfrm>
          <a:prstGeom prst="ellipse">
            <a:avLst/>
          </a:prstGeom>
          <a:solidFill>
            <a:srgbClr val="14B8A6">
              <a:alpha val="50000"/>
            </a:srgbClr>
          </a:solidFill>
          <a:ln/>
        </p:spPr>
      </p:sp>
      <p:sp>
        <p:nvSpPr>
          <p:cNvPr id="11" name="Shape 9"/>
          <p:cNvSpPr/>
          <p:nvPr/>
        </p:nvSpPr>
        <p:spPr>
          <a:xfrm>
            <a:off x="7909560" y="1371600"/>
            <a:ext cx="73152" cy="73152"/>
          </a:xfrm>
          <a:prstGeom prst="ellipse">
            <a:avLst/>
          </a:prstGeom>
          <a:solidFill>
            <a:srgbClr val="14B8A6">
              <a:alpha val="50000"/>
            </a:srgbClr>
          </a:solidFill>
          <a:ln/>
        </p:spPr>
      </p:sp>
      <p:sp>
        <p:nvSpPr>
          <p:cNvPr id="12" name="Shape 10"/>
          <p:cNvSpPr/>
          <p:nvPr/>
        </p:nvSpPr>
        <p:spPr>
          <a:xfrm>
            <a:off x="8229600" y="1371600"/>
            <a:ext cx="73152" cy="73152"/>
          </a:xfrm>
          <a:prstGeom prst="ellipse">
            <a:avLst/>
          </a:prstGeom>
          <a:solidFill>
            <a:srgbClr val="14B8A6">
              <a:alpha val="50000"/>
            </a:srgbClr>
          </a:solidFill>
          <a:ln/>
        </p:spPr>
      </p:sp>
      <p:sp>
        <p:nvSpPr>
          <p:cNvPr id="13" name="Shape 11"/>
          <p:cNvSpPr/>
          <p:nvPr/>
        </p:nvSpPr>
        <p:spPr>
          <a:xfrm>
            <a:off x="7589520" y="1920240"/>
            <a:ext cx="73152" cy="73152"/>
          </a:xfrm>
          <a:prstGeom prst="ellipse">
            <a:avLst/>
          </a:prstGeom>
          <a:solidFill>
            <a:srgbClr val="14B8A6">
              <a:alpha val="50000"/>
            </a:srgbClr>
          </a:solidFill>
          <a:ln/>
        </p:spPr>
      </p:sp>
      <p:sp>
        <p:nvSpPr>
          <p:cNvPr id="14" name="Shape 12"/>
          <p:cNvSpPr/>
          <p:nvPr/>
        </p:nvSpPr>
        <p:spPr>
          <a:xfrm>
            <a:off x="7909560" y="1920240"/>
            <a:ext cx="73152" cy="73152"/>
          </a:xfrm>
          <a:prstGeom prst="ellipse">
            <a:avLst/>
          </a:prstGeom>
          <a:solidFill>
            <a:srgbClr val="14B8A6">
              <a:alpha val="50000"/>
            </a:srgbClr>
          </a:solidFill>
          <a:ln/>
        </p:spPr>
      </p:sp>
      <p:sp>
        <p:nvSpPr>
          <p:cNvPr id="15" name="Shape 13"/>
          <p:cNvSpPr/>
          <p:nvPr/>
        </p:nvSpPr>
        <p:spPr>
          <a:xfrm>
            <a:off x="8229600" y="1920240"/>
            <a:ext cx="73152" cy="73152"/>
          </a:xfrm>
          <a:prstGeom prst="ellipse">
            <a:avLst/>
          </a:prstGeom>
          <a:solidFill>
            <a:srgbClr val="14B8A6">
              <a:alpha val="50000"/>
            </a:srgbClr>
          </a:solidFill>
          <a:ln/>
        </p:spPr>
      </p:sp>
      <p:sp>
        <p:nvSpPr>
          <p:cNvPr id="16" name="Shape 14"/>
          <p:cNvSpPr/>
          <p:nvPr/>
        </p:nvSpPr>
        <p:spPr>
          <a:xfrm>
            <a:off x="7589520" y="2468880"/>
            <a:ext cx="73152" cy="73152"/>
          </a:xfrm>
          <a:prstGeom prst="ellipse">
            <a:avLst/>
          </a:prstGeom>
          <a:solidFill>
            <a:srgbClr val="14B8A6">
              <a:alpha val="50000"/>
            </a:srgbClr>
          </a:solidFill>
          <a:ln/>
        </p:spPr>
      </p:sp>
      <p:sp>
        <p:nvSpPr>
          <p:cNvPr id="17" name="Shape 15"/>
          <p:cNvSpPr/>
          <p:nvPr/>
        </p:nvSpPr>
        <p:spPr>
          <a:xfrm>
            <a:off x="7909560" y="2468880"/>
            <a:ext cx="73152" cy="73152"/>
          </a:xfrm>
          <a:prstGeom prst="ellipse">
            <a:avLst/>
          </a:prstGeom>
          <a:solidFill>
            <a:srgbClr val="14B8A6">
              <a:alpha val="50000"/>
            </a:srgbClr>
          </a:solidFill>
          <a:ln/>
        </p:spPr>
      </p:sp>
      <p:sp>
        <p:nvSpPr>
          <p:cNvPr id="18" name="Shape 16"/>
          <p:cNvSpPr/>
          <p:nvPr/>
        </p:nvSpPr>
        <p:spPr>
          <a:xfrm>
            <a:off x="8229600" y="2468880"/>
            <a:ext cx="73152" cy="73152"/>
          </a:xfrm>
          <a:prstGeom prst="ellipse">
            <a:avLst/>
          </a:prstGeom>
          <a:solidFill>
            <a:srgbClr val="14B8A6">
              <a:alpha val="50000"/>
            </a:srgbClr>
          </a:solidFill>
          <a:ln/>
        </p:spPr>
      </p:sp>
      <p:sp>
        <p:nvSpPr>
          <p:cNvPr id="19" name="Shape 17"/>
          <p:cNvSpPr/>
          <p:nvPr/>
        </p:nvSpPr>
        <p:spPr>
          <a:xfrm>
            <a:off x="7589520" y="3017520"/>
            <a:ext cx="73152" cy="73152"/>
          </a:xfrm>
          <a:prstGeom prst="ellipse">
            <a:avLst/>
          </a:prstGeom>
          <a:solidFill>
            <a:srgbClr val="14B8A6">
              <a:alpha val="50000"/>
            </a:srgbClr>
          </a:solidFill>
          <a:ln/>
        </p:spPr>
      </p:sp>
      <p:sp>
        <p:nvSpPr>
          <p:cNvPr id="20" name="Shape 18"/>
          <p:cNvSpPr/>
          <p:nvPr/>
        </p:nvSpPr>
        <p:spPr>
          <a:xfrm>
            <a:off x="7909560" y="3017520"/>
            <a:ext cx="73152" cy="73152"/>
          </a:xfrm>
          <a:prstGeom prst="ellipse">
            <a:avLst/>
          </a:prstGeom>
          <a:solidFill>
            <a:srgbClr val="14B8A6">
              <a:alpha val="50000"/>
            </a:srgbClr>
          </a:solidFill>
          <a:ln/>
        </p:spPr>
      </p:sp>
      <p:sp>
        <p:nvSpPr>
          <p:cNvPr id="21" name="Shape 19"/>
          <p:cNvSpPr/>
          <p:nvPr/>
        </p:nvSpPr>
        <p:spPr>
          <a:xfrm>
            <a:off x="8229600" y="3017520"/>
            <a:ext cx="73152" cy="73152"/>
          </a:xfrm>
          <a:prstGeom prst="ellipse">
            <a:avLst/>
          </a:prstGeom>
          <a:solidFill>
            <a:srgbClr val="14B8A6">
              <a:alpha val="50000"/>
            </a:srgbClr>
          </a:solidFill>
          <a:ln/>
        </p:spPr>
      </p:sp>
      <p:sp>
        <p:nvSpPr>
          <p:cNvPr id="22" name="Shape 20"/>
          <p:cNvSpPr/>
          <p:nvPr/>
        </p:nvSpPr>
        <p:spPr>
          <a:xfrm>
            <a:off x="7589520" y="3566160"/>
            <a:ext cx="73152" cy="73152"/>
          </a:xfrm>
          <a:prstGeom prst="ellipse">
            <a:avLst/>
          </a:prstGeom>
          <a:solidFill>
            <a:srgbClr val="14B8A6">
              <a:alpha val="50000"/>
            </a:srgbClr>
          </a:solidFill>
          <a:ln/>
        </p:spPr>
      </p:sp>
      <p:sp>
        <p:nvSpPr>
          <p:cNvPr id="23" name="Shape 21"/>
          <p:cNvSpPr/>
          <p:nvPr/>
        </p:nvSpPr>
        <p:spPr>
          <a:xfrm>
            <a:off x="7909560" y="3566160"/>
            <a:ext cx="73152" cy="73152"/>
          </a:xfrm>
          <a:prstGeom prst="ellipse">
            <a:avLst/>
          </a:prstGeom>
          <a:solidFill>
            <a:srgbClr val="14B8A6">
              <a:alpha val="50000"/>
            </a:srgbClr>
          </a:solidFill>
          <a:ln/>
        </p:spPr>
      </p:sp>
      <p:sp>
        <p:nvSpPr>
          <p:cNvPr id="24" name="Shape 22"/>
          <p:cNvSpPr/>
          <p:nvPr/>
        </p:nvSpPr>
        <p:spPr>
          <a:xfrm>
            <a:off x="8229600" y="3566160"/>
            <a:ext cx="73152" cy="73152"/>
          </a:xfrm>
          <a:prstGeom prst="ellipse">
            <a:avLst/>
          </a:prstGeom>
          <a:solidFill>
            <a:srgbClr val="14B8A6">
              <a:alpha val="50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457200" y="347472"/>
            <a:ext cx="8229600" cy="256032"/>
          </a:xfrm>
          <a:prstGeom prst="rect">
            <a:avLst/>
          </a:prstGeom>
          <a:noFill/>
          <a:ln/>
        </p:spPr>
        <p:txBody>
          <a:bodyPr wrap="square" lIns="0" tIns="0" rIns="0" bIns="0" rtlCol="0" anchor="ctr"/>
          <a:lstStyle/>
          <a:p>
            <a:pPr indent="0" marL="0">
              <a:buNone/>
            </a:pPr>
            <a:r>
              <a:rPr lang="en-US" sz="1100" b="1" spc="300" kern="0" dirty="0">
                <a:solidFill>
                  <a:srgbClr val="0D9488"/>
                </a:solidFill>
                <a:latin typeface="Calibri" pitchFamily="34" charset="0"/>
                <a:ea typeface="Calibri" pitchFamily="34" charset="-122"/>
                <a:cs typeface="Calibri" pitchFamily="34" charset="-120"/>
              </a:rPr>
              <a:t>WHY THIS MATTERS</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indent="0" marL="0">
              <a:buNone/>
            </a:pPr>
            <a:r>
              <a:rPr lang="en-US" sz="3600" i="1" dirty="0">
                <a:solidFill>
                  <a:srgbClr val="1C1917"/>
                </a:solidFill>
                <a:latin typeface="Cambria" pitchFamily="34" charset="0"/>
                <a:ea typeface="Cambria" pitchFamily="34" charset="-122"/>
                <a:cs typeface="Cambria" pitchFamily="34" charset="-120"/>
              </a:rPr>
              <a:t>It's not the volume — it's the context.</a:t>
            </a:r>
            <a:endParaRPr lang="en-US" sz="3600" dirty="0"/>
          </a:p>
        </p:txBody>
      </p:sp>
      <p:sp>
        <p:nvSpPr>
          <p:cNvPr id="4" name="Text 2"/>
          <p:cNvSpPr/>
          <p:nvPr/>
        </p:nvSpPr>
        <p:spPr>
          <a:xfrm>
            <a:off x="7955280" y="365760"/>
            <a:ext cx="914400" cy="228600"/>
          </a:xfrm>
          <a:prstGeom prst="rect">
            <a:avLst/>
          </a:prstGeom>
          <a:noFill/>
          <a:ln/>
        </p:spPr>
        <p:txBody>
          <a:bodyPr wrap="square" lIns="0" tIns="0" rIns="0" bIns="0" rtlCol="0" anchor="ctr"/>
          <a:lstStyle/>
          <a:p>
            <a:pPr algn="r" indent="0" marL="0">
              <a:buNone/>
            </a:pPr>
            <a:r>
              <a:rPr lang="en-US" sz="900" b="1" spc="300" kern="0" dirty="0">
                <a:solidFill>
                  <a:srgbClr val="78716C"/>
                </a:solidFill>
                <a:latin typeface="Calibri" pitchFamily="34" charset="0"/>
                <a:ea typeface="Calibri" pitchFamily="34" charset="-122"/>
                <a:cs typeface="Calibri" pitchFamily="34" charset="-120"/>
              </a:rPr>
              <a:t>01</a:t>
            </a:r>
            <a:endParaRPr lang="en-US" sz="900" dirty="0"/>
          </a:p>
        </p:txBody>
      </p:sp>
      <p:sp>
        <p:nvSpPr>
          <p:cNvPr id="5" name="Text 3"/>
          <p:cNvSpPr/>
          <p:nvPr/>
        </p:nvSpPr>
        <p:spPr>
          <a:xfrm>
            <a:off x="457200" y="1554480"/>
            <a:ext cx="8229600" cy="1188720"/>
          </a:xfrm>
          <a:prstGeom prst="rect">
            <a:avLst/>
          </a:prstGeom>
          <a:noFill/>
          <a:ln/>
        </p:spPr>
        <p:txBody>
          <a:bodyPr wrap="square" lIns="0" tIns="0" rIns="0" bIns="0" rtlCol="0" anchor="ctr"/>
          <a:lstStyle/>
          <a:p>
            <a:pPr indent="0" marL="0">
              <a:lnSpc>
                <a:spcPct val="135000"/>
              </a:lnSpc>
              <a:buNone/>
            </a:pPr>
            <a:r>
              <a:rPr lang="en-US" sz="1800" dirty="0">
                <a:solidFill>
                  <a:srgbClr val="1C1917"/>
                </a:solidFill>
                <a:latin typeface="Calibri" pitchFamily="34" charset="0"/>
                <a:ea typeface="Calibri" pitchFamily="34" charset="-122"/>
                <a:cs typeface="Calibri" pitchFamily="34" charset="-120"/>
              </a:rPr>
              <a:t>Frau Köhler's heater fails for the sixth time this winter. The reply needs her lease clause, her medical attestation, the vendor history, the BGB section, the open offer from Bergmann, and what Jonas pre-approved last Friday. All of that lives in different places.</a:t>
            </a:r>
            <a:endParaRPr lang="en-US" sz="1800" dirty="0"/>
          </a:p>
        </p:txBody>
      </p:sp>
      <p:sp>
        <p:nvSpPr>
          <p:cNvPr id="6" name="Shape 4"/>
          <p:cNvSpPr/>
          <p:nvPr/>
        </p:nvSpPr>
        <p:spPr>
          <a:xfrm>
            <a:off x="466344" y="3200400"/>
            <a:ext cx="1554480" cy="777240"/>
          </a:xfrm>
          <a:prstGeom prst="rect">
            <a:avLst/>
          </a:prstGeom>
          <a:solidFill>
            <a:srgbClr val="FFFFFF"/>
          </a:solidFill>
          <a:ln w="6350">
            <a:solidFill>
              <a:srgbClr val="E7E5E4"/>
            </a:solidFill>
            <a:prstDash val="solid"/>
          </a:ln>
          <a:effectLst>
            <a:outerShdw sx="100000" sy="100000" kx="0" ky="0" algn="bl" rotWithShape="0" blurRad="152400" dist="38100" dir="5400000">
              <a:srgbClr val="000000">
                <a:alpha val="8000"/>
              </a:srgbClr>
            </a:outerShdw>
          </a:effectLst>
        </p:spPr>
      </p:sp>
      <p:sp>
        <p:nvSpPr>
          <p:cNvPr id="7" name="Text 5"/>
          <p:cNvSpPr/>
          <p:nvPr/>
        </p:nvSpPr>
        <p:spPr>
          <a:xfrm>
            <a:off x="576072" y="3291840"/>
            <a:ext cx="1335024" cy="274320"/>
          </a:xfrm>
          <a:prstGeom prst="rect">
            <a:avLst/>
          </a:prstGeom>
          <a:noFill/>
          <a:ln/>
        </p:spPr>
        <p:txBody>
          <a:bodyPr wrap="square" lIns="0" tIns="0" rIns="0" bIns="0" rtlCol="0" anchor="ctr"/>
          <a:lstStyle/>
          <a:p>
            <a:pPr indent="0" marL="0">
              <a:buNone/>
            </a:pPr>
            <a:r>
              <a:rPr lang="en-US" sz="1100" b="1" dirty="0">
                <a:solidFill>
                  <a:srgbClr val="1C1917"/>
                </a:solidFill>
                <a:latin typeface="Calibri" pitchFamily="34" charset="0"/>
                <a:ea typeface="Calibri" pitchFamily="34" charset="-122"/>
                <a:cs typeface="Calibri" pitchFamily="34" charset="-120"/>
              </a:rPr>
              <a:t>Lease PDF</a:t>
            </a:r>
            <a:endParaRPr lang="en-US" sz="1100" dirty="0"/>
          </a:p>
        </p:txBody>
      </p:sp>
      <p:sp>
        <p:nvSpPr>
          <p:cNvPr id="8" name="Text 6"/>
          <p:cNvSpPr/>
          <p:nvPr/>
        </p:nvSpPr>
        <p:spPr>
          <a:xfrm>
            <a:off x="576072" y="3566160"/>
            <a:ext cx="1335024" cy="274320"/>
          </a:xfrm>
          <a:prstGeom prst="rect">
            <a:avLst/>
          </a:prstGeom>
          <a:noFill/>
          <a:ln/>
        </p:spPr>
        <p:txBody>
          <a:bodyPr wrap="square" lIns="0" tIns="0" rIns="0" bIns="0" rtlCol="0" anchor="ctr"/>
          <a:lstStyle/>
          <a:p>
            <a:pPr indent="0" marL="0">
              <a:buNone/>
            </a:pPr>
            <a:r>
              <a:rPr lang="en-US" sz="950" i="1" dirty="0">
                <a:solidFill>
                  <a:srgbClr val="78716C"/>
                </a:solidFill>
                <a:latin typeface="Calibri" pitchFamily="34" charset="0"/>
                <a:ea typeface="Calibri" pitchFamily="34" charset="-122"/>
                <a:cs typeface="Calibri" pitchFamily="34" charset="-120"/>
              </a:rPr>
              <a:t>owner's drive</a:t>
            </a:r>
            <a:endParaRPr lang="en-US" sz="950" dirty="0"/>
          </a:p>
        </p:txBody>
      </p:sp>
      <p:sp>
        <p:nvSpPr>
          <p:cNvPr id="9" name="Shape 7"/>
          <p:cNvSpPr/>
          <p:nvPr/>
        </p:nvSpPr>
        <p:spPr>
          <a:xfrm>
            <a:off x="2130552" y="3200400"/>
            <a:ext cx="1554480" cy="777240"/>
          </a:xfrm>
          <a:prstGeom prst="rect">
            <a:avLst/>
          </a:prstGeom>
          <a:solidFill>
            <a:srgbClr val="FFFFFF"/>
          </a:solidFill>
          <a:ln w="6350">
            <a:solidFill>
              <a:srgbClr val="E7E5E4"/>
            </a:solidFill>
            <a:prstDash val="solid"/>
          </a:ln>
          <a:effectLst>
            <a:outerShdw sx="100000" sy="100000" kx="0" ky="0" algn="bl" rotWithShape="0" blurRad="152400" dist="38100" dir="5400000">
              <a:srgbClr val="000000">
                <a:alpha val="8000"/>
              </a:srgbClr>
            </a:outerShdw>
          </a:effectLst>
        </p:spPr>
      </p:sp>
      <p:sp>
        <p:nvSpPr>
          <p:cNvPr id="10" name="Text 8"/>
          <p:cNvSpPr/>
          <p:nvPr/>
        </p:nvSpPr>
        <p:spPr>
          <a:xfrm>
            <a:off x="2240280" y="3291840"/>
            <a:ext cx="1335024" cy="274320"/>
          </a:xfrm>
          <a:prstGeom prst="rect">
            <a:avLst/>
          </a:prstGeom>
          <a:noFill/>
          <a:ln/>
        </p:spPr>
        <p:txBody>
          <a:bodyPr wrap="square" lIns="0" tIns="0" rIns="0" bIns="0" rtlCol="0" anchor="ctr"/>
          <a:lstStyle/>
          <a:p>
            <a:pPr indent="0" marL="0">
              <a:buNone/>
            </a:pPr>
            <a:r>
              <a:rPr lang="en-US" sz="1100" b="1" dirty="0">
                <a:solidFill>
                  <a:srgbClr val="1C1917"/>
                </a:solidFill>
                <a:latin typeface="Calibri" pitchFamily="34" charset="0"/>
                <a:ea typeface="Calibri" pitchFamily="34" charset="-122"/>
                <a:cs typeface="Calibri" pitchFamily="34" charset="-120"/>
              </a:rPr>
              <a:t>Vendor invoices</a:t>
            </a:r>
            <a:endParaRPr lang="en-US" sz="1100" dirty="0"/>
          </a:p>
        </p:txBody>
      </p:sp>
      <p:sp>
        <p:nvSpPr>
          <p:cNvPr id="11" name="Text 9"/>
          <p:cNvSpPr/>
          <p:nvPr/>
        </p:nvSpPr>
        <p:spPr>
          <a:xfrm>
            <a:off x="2240280" y="3566160"/>
            <a:ext cx="1335024" cy="274320"/>
          </a:xfrm>
          <a:prstGeom prst="rect">
            <a:avLst/>
          </a:prstGeom>
          <a:noFill/>
          <a:ln/>
        </p:spPr>
        <p:txBody>
          <a:bodyPr wrap="square" lIns="0" tIns="0" rIns="0" bIns="0" rtlCol="0" anchor="ctr"/>
          <a:lstStyle/>
          <a:p>
            <a:pPr indent="0" marL="0">
              <a:buNone/>
            </a:pPr>
            <a:r>
              <a:rPr lang="en-US" sz="950" i="1" dirty="0">
                <a:solidFill>
                  <a:srgbClr val="78716C"/>
                </a:solidFill>
                <a:latin typeface="Calibri" pitchFamily="34" charset="0"/>
                <a:ea typeface="Calibri" pitchFamily="34" charset="-122"/>
                <a:cs typeface="Calibri" pitchFamily="34" charset="-120"/>
              </a:rPr>
              <a:t>PMS system</a:t>
            </a:r>
            <a:endParaRPr lang="en-US" sz="950" dirty="0"/>
          </a:p>
        </p:txBody>
      </p:sp>
      <p:sp>
        <p:nvSpPr>
          <p:cNvPr id="12" name="Shape 10"/>
          <p:cNvSpPr/>
          <p:nvPr/>
        </p:nvSpPr>
        <p:spPr>
          <a:xfrm>
            <a:off x="3794760" y="3200400"/>
            <a:ext cx="1554480" cy="777240"/>
          </a:xfrm>
          <a:prstGeom prst="rect">
            <a:avLst/>
          </a:prstGeom>
          <a:solidFill>
            <a:srgbClr val="FFFFFF"/>
          </a:solidFill>
          <a:ln w="6350">
            <a:solidFill>
              <a:srgbClr val="E7E5E4"/>
            </a:solidFill>
            <a:prstDash val="solid"/>
          </a:ln>
          <a:effectLst>
            <a:outerShdw sx="100000" sy="100000" kx="0" ky="0" algn="bl" rotWithShape="0" blurRad="152400" dist="38100" dir="5400000">
              <a:srgbClr val="000000">
                <a:alpha val="8000"/>
              </a:srgbClr>
            </a:outerShdw>
          </a:effectLst>
        </p:spPr>
      </p:sp>
      <p:sp>
        <p:nvSpPr>
          <p:cNvPr id="13" name="Text 11"/>
          <p:cNvSpPr/>
          <p:nvPr/>
        </p:nvSpPr>
        <p:spPr>
          <a:xfrm>
            <a:off x="3904488" y="3291840"/>
            <a:ext cx="1335024" cy="274320"/>
          </a:xfrm>
          <a:prstGeom prst="rect">
            <a:avLst/>
          </a:prstGeom>
          <a:noFill/>
          <a:ln/>
        </p:spPr>
        <p:txBody>
          <a:bodyPr wrap="square" lIns="0" tIns="0" rIns="0" bIns="0" rtlCol="0" anchor="ctr"/>
          <a:lstStyle/>
          <a:p>
            <a:pPr indent="0" marL="0">
              <a:buNone/>
            </a:pPr>
            <a:r>
              <a:rPr lang="en-US" sz="1100" b="1" dirty="0">
                <a:solidFill>
                  <a:srgbClr val="1C1917"/>
                </a:solidFill>
                <a:latin typeface="Calibri" pitchFamily="34" charset="0"/>
                <a:ea typeface="Calibri" pitchFamily="34" charset="-122"/>
                <a:cs typeface="Calibri" pitchFamily="34" charset="-120"/>
              </a:rPr>
              <a:t>Slack approvals</a:t>
            </a:r>
            <a:endParaRPr lang="en-US" sz="1100" dirty="0"/>
          </a:p>
        </p:txBody>
      </p:sp>
      <p:sp>
        <p:nvSpPr>
          <p:cNvPr id="14" name="Text 12"/>
          <p:cNvSpPr/>
          <p:nvPr/>
        </p:nvSpPr>
        <p:spPr>
          <a:xfrm>
            <a:off x="3904488" y="3566160"/>
            <a:ext cx="1335024" cy="274320"/>
          </a:xfrm>
          <a:prstGeom prst="rect">
            <a:avLst/>
          </a:prstGeom>
          <a:noFill/>
          <a:ln/>
        </p:spPr>
        <p:txBody>
          <a:bodyPr wrap="square" lIns="0" tIns="0" rIns="0" bIns="0" rtlCol="0" anchor="ctr"/>
          <a:lstStyle/>
          <a:p>
            <a:pPr indent="0" marL="0">
              <a:buNone/>
            </a:pPr>
            <a:r>
              <a:rPr lang="en-US" sz="950" i="1" dirty="0">
                <a:solidFill>
                  <a:srgbClr val="78716C"/>
                </a:solidFill>
                <a:latin typeface="Calibri" pitchFamily="34" charset="0"/>
                <a:ea typeface="Calibri" pitchFamily="34" charset="-122"/>
                <a:cs typeface="Calibri" pitchFamily="34" charset="-120"/>
              </a:rPr>
              <a:t>team chat</a:t>
            </a:r>
            <a:endParaRPr lang="en-US" sz="950" dirty="0"/>
          </a:p>
        </p:txBody>
      </p:sp>
      <p:sp>
        <p:nvSpPr>
          <p:cNvPr id="15" name="Shape 13"/>
          <p:cNvSpPr/>
          <p:nvPr/>
        </p:nvSpPr>
        <p:spPr>
          <a:xfrm>
            <a:off x="5458968" y="3200400"/>
            <a:ext cx="1554480" cy="777240"/>
          </a:xfrm>
          <a:prstGeom prst="rect">
            <a:avLst/>
          </a:prstGeom>
          <a:solidFill>
            <a:srgbClr val="FFFFFF"/>
          </a:solidFill>
          <a:ln w="6350">
            <a:solidFill>
              <a:srgbClr val="E7E5E4"/>
            </a:solidFill>
            <a:prstDash val="solid"/>
          </a:ln>
          <a:effectLst>
            <a:outerShdw sx="100000" sy="100000" kx="0" ky="0" algn="bl" rotWithShape="0" blurRad="152400" dist="38100" dir="5400000">
              <a:srgbClr val="000000">
                <a:alpha val="8000"/>
              </a:srgbClr>
            </a:outerShdw>
          </a:effectLst>
        </p:spPr>
      </p:sp>
      <p:sp>
        <p:nvSpPr>
          <p:cNvPr id="16" name="Text 14"/>
          <p:cNvSpPr/>
          <p:nvPr/>
        </p:nvSpPr>
        <p:spPr>
          <a:xfrm>
            <a:off x="5568696" y="3291840"/>
            <a:ext cx="1335024" cy="274320"/>
          </a:xfrm>
          <a:prstGeom prst="rect">
            <a:avLst/>
          </a:prstGeom>
          <a:noFill/>
          <a:ln/>
        </p:spPr>
        <p:txBody>
          <a:bodyPr wrap="square" lIns="0" tIns="0" rIns="0" bIns="0" rtlCol="0" anchor="ctr"/>
          <a:lstStyle/>
          <a:p>
            <a:pPr indent="0" marL="0">
              <a:buNone/>
            </a:pPr>
            <a:r>
              <a:rPr lang="en-US" sz="1100" b="1" dirty="0">
                <a:solidFill>
                  <a:srgbClr val="1C1917"/>
                </a:solidFill>
                <a:latin typeface="Calibri" pitchFamily="34" charset="0"/>
                <a:ea typeface="Calibri" pitchFamily="34" charset="-122"/>
                <a:cs typeface="Calibri" pitchFamily="34" charset="-120"/>
              </a:rPr>
              <a:t>BGB / BetrKV</a:t>
            </a:r>
            <a:endParaRPr lang="en-US" sz="1100" dirty="0"/>
          </a:p>
        </p:txBody>
      </p:sp>
      <p:sp>
        <p:nvSpPr>
          <p:cNvPr id="17" name="Text 15"/>
          <p:cNvSpPr/>
          <p:nvPr/>
        </p:nvSpPr>
        <p:spPr>
          <a:xfrm>
            <a:off x="5568696" y="3566160"/>
            <a:ext cx="1335024" cy="274320"/>
          </a:xfrm>
          <a:prstGeom prst="rect">
            <a:avLst/>
          </a:prstGeom>
          <a:noFill/>
          <a:ln/>
        </p:spPr>
        <p:txBody>
          <a:bodyPr wrap="square" lIns="0" tIns="0" rIns="0" bIns="0" rtlCol="0" anchor="ctr"/>
          <a:lstStyle/>
          <a:p>
            <a:pPr indent="0" marL="0">
              <a:buNone/>
            </a:pPr>
            <a:r>
              <a:rPr lang="en-US" sz="950" i="1" dirty="0">
                <a:solidFill>
                  <a:srgbClr val="78716C"/>
                </a:solidFill>
                <a:latin typeface="Calibri" pitchFamily="34" charset="0"/>
                <a:ea typeface="Calibri" pitchFamily="34" charset="-122"/>
                <a:cs typeface="Calibri" pitchFamily="34" charset="-120"/>
              </a:rPr>
              <a:t>legal docs</a:t>
            </a:r>
            <a:endParaRPr lang="en-US" sz="950" dirty="0"/>
          </a:p>
        </p:txBody>
      </p:sp>
      <p:sp>
        <p:nvSpPr>
          <p:cNvPr id="18" name="Shape 16"/>
          <p:cNvSpPr/>
          <p:nvPr/>
        </p:nvSpPr>
        <p:spPr>
          <a:xfrm>
            <a:off x="7123176" y="3200400"/>
            <a:ext cx="1554480" cy="777240"/>
          </a:xfrm>
          <a:prstGeom prst="rect">
            <a:avLst/>
          </a:prstGeom>
          <a:solidFill>
            <a:srgbClr val="FFFFFF"/>
          </a:solidFill>
          <a:ln w="6350">
            <a:solidFill>
              <a:srgbClr val="E7E5E4"/>
            </a:solidFill>
            <a:prstDash val="solid"/>
          </a:ln>
          <a:effectLst>
            <a:outerShdw sx="100000" sy="100000" kx="0" ky="0" algn="bl" rotWithShape="0" blurRad="152400" dist="38100" dir="5400000">
              <a:srgbClr val="000000">
                <a:alpha val="8000"/>
              </a:srgbClr>
            </a:outerShdw>
          </a:effectLst>
        </p:spPr>
      </p:sp>
      <p:sp>
        <p:nvSpPr>
          <p:cNvPr id="19" name="Text 17"/>
          <p:cNvSpPr/>
          <p:nvPr/>
        </p:nvSpPr>
        <p:spPr>
          <a:xfrm>
            <a:off x="7232904" y="3291840"/>
            <a:ext cx="1335024" cy="274320"/>
          </a:xfrm>
          <a:prstGeom prst="rect">
            <a:avLst/>
          </a:prstGeom>
          <a:noFill/>
          <a:ln/>
        </p:spPr>
        <p:txBody>
          <a:bodyPr wrap="square" lIns="0" tIns="0" rIns="0" bIns="0" rtlCol="0" anchor="ctr"/>
          <a:lstStyle/>
          <a:p>
            <a:pPr indent="0" marL="0">
              <a:buNone/>
            </a:pPr>
            <a:r>
              <a:rPr lang="en-US" sz="1100" b="1" dirty="0">
                <a:solidFill>
                  <a:srgbClr val="1C1917"/>
                </a:solidFill>
                <a:latin typeface="Calibri" pitchFamily="34" charset="0"/>
                <a:ea typeface="Calibri" pitchFamily="34" charset="-122"/>
                <a:cs typeface="Calibri" pitchFamily="34" charset="-120"/>
              </a:rPr>
              <a:t>Past tickets</a:t>
            </a:r>
            <a:endParaRPr lang="en-US" sz="1100" dirty="0"/>
          </a:p>
        </p:txBody>
      </p:sp>
      <p:sp>
        <p:nvSpPr>
          <p:cNvPr id="20" name="Text 18"/>
          <p:cNvSpPr/>
          <p:nvPr/>
        </p:nvSpPr>
        <p:spPr>
          <a:xfrm>
            <a:off x="7232904" y="3566160"/>
            <a:ext cx="1335024" cy="274320"/>
          </a:xfrm>
          <a:prstGeom prst="rect">
            <a:avLst/>
          </a:prstGeom>
          <a:noFill/>
          <a:ln/>
        </p:spPr>
        <p:txBody>
          <a:bodyPr wrap="square" lIns="0" tIns="0" rIns="0" bIns="0" rtlCol="0" anchor="ctr"/>
          <a:lstStyle/>
          <a:p>
            <a:pPr indent="0" marL="0">
              <a:buNone/>
            </a:pPr>
            <a:r>
              <a:rPr lang="en-US" sz="950" i="1" dirty="0">
                <a:solidFill>
                  <a:srgbClr val="78716C"/>
                </a:solidFill>
                <a:latin typeface="Calibri" pitchFamily="34" charset="0"/>
                <a:ea typeface="Calibri" pitchFamily="34" charset="-122"/>
                <a:cs typeface="Calibri" pitchFamily="34" charset="-120"/>
              </a:rPr>
              <a:t>memory only</a:t>
            </a:r>
            <a:endParaRPr lang="en-US" sz="950" dirty="0"/>
          </a:p>
        </p:txBody>
      </p:sp>
      <p:sp>
        <p:nvSpPr>
          <p:cNvPr id="21" name="Text 19"/>
          <p:cNvSpPr/>
          <p:nvPr/>
        </p:nvSpPr>
        <p:spPr>
          <a:xfrm>
            <a:off x="457200" y="4297680"/>
            <a:ext cx="8229600" cy="365760"/>
          </a:xfrm>
          <a:prstGeom prst="rect">
            <a:avLst/>
          </a:prstGeom>
          <a:noFill/>
          <a:ln/>
        </p:spPr>
        <p:txBody>
          <a:bodyPr wrap="square" lIns="0" tIns="0" rIns="0" bIns="0" rtlCol="0" anchor="ctr"/>
          <a:lstStyle/>
          <a:p>
            <a:pPr algn="ctr" indent="0" marL="0">
              <a:buNone/>
            </a:pPr>
            <a:r>
              <a:rPr lang="en-US" sz="1800" i="1" dirty="0">
                <a:solidFill>
                  <a:srgbClr val="0D9488"/>
                </a:solidFill>
                <a:latin typeface="Cambria" pitchFamily="34" charset="0"/>
                <a:ea typeface="Cambria" pitchFamily="34" charset="-122"/>
                <a:cs typeface="Cambria" pitchFamily="34" charset="-120"/>
              </a:rPr>
              <a:t>Fletcher's job is to hold all of it — and to remember.</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457200" y="347472"/>
            <a:ext cx="8229600" cy="256032"/>
          </a:xfrm>
          <a:prstGeom prst="rect">
            <a:avLst/>
          </a:prstGeom>
          <a:noFill/>
          <a:ln/>
        </p:spPr>
        <p:txBody>
          <a:bodyPr wrap="square" lIns="0" tIns="0" rIns="0" bIns="0" rtlCol="0" anchor="ctr"/>
          <a:lstStyle/>
          <a:p>
            <a:pPr indent="0" marL="0">
              <a:buNone/>
            </a:pPr>
            <a:r>
              <a:rPr lang="en-US" sz="1100" b="1" spc="300" kern="0" dirty="0">
                <a:solidFill>
                  <a:srgbClr val="0D9488"/>
                </a:solidFill>
                <a:latin typeface="Calibri" pitchFamily="34" charset="0"/>
                <a:ea typeface="Calibri" pitchFamily="34" charset="-122"/>
                <a:cs typeface="Calibri" pitchFamily="34" charset="-120"/>
              </a:rPr>
              <a:t>THE ARCHITECTURE OF MEMORY</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indent="0" marL="0">
              <a:buNone/>
            </a:pPr>
            <a:r>
              <a:rPr lang="en-US" sz="3600" i="1" dirty="0">
                <a:solidFill>
                  <a:srgbClr val="1C1917"/>
                </a:solidFill>
                <a:latin typeface="Cambria" pitchFamily="34" charset="0"/>
                <a:ea typeface="Cambria" pitchFamily="34" charset="-122"/>
                <a:cs typeface="Cambria" pitchFamily="34" charset="-120"/>
              </a:rPr>
              <a:t>Three deliberate stores. One question each.</a:t>
            </a:r>
            <a:endParaRPr lang="en-US" sz="3600" dirty="0"/>
          </a:p>
        </p:txBody>
      </p:sp>
      <p:sp>
        <p:nvSpPr>
          <p:cNvPr id="4" name="Text 2"/>
          <p:cNvSpPr/>
          <p:nvPr/>
        </p:nvSpPr>
        <p:spPr>
          <a:xfrm>
            <a:off x="7955280" y="365760"/>
            <a:ext cx="914400" cy="228600"/>
          </a:xfrm>
          <a:prstGeom prst="rect">
            <a:avLst/>
          </a:prstGeom>
          <a:noFill/>
          <a:ln/>
        </p:spPr>
        <p:txBody>
          <a:bodyPr wrap="square" lIns="0" tIns="0" rIns="0" bIns="0" rtlCol="0" anchor="ctr"/>
          <a:lstStyle/>
          <a:p>
            <a:pPr algn="r" indent="0" marL="0">
              <a:buNone/>
            </a:pPr>
            <a:r>
              <a:rPr lang="en-US" sz="900" b="1" spc="300" kern="0" dirty="0">
                <a:solidFill>
                  <a:srgbClr val="78716C"/>
                </a:solidFill>
                <a:latin typeface="Calibri" pitchFamily="34" charset="0"/>
                <a:ea typeface="Calibri" pitchFamily="34" charset="-122"/>
                <a:cs typeface="Calibri" pitchFamily="34" charset="-120"/>
              </a:rPr>
              <a:t>02</a:t>
            </a:r>
            <a:endParaRPr lang="en-US" sz="900" dirty="0"/>
          </a:p>
        </p:txBody>
      </p:sp>
      <p:sp>
        <p:nvSpPr>
          <p:cNvPr id="5" name="Shape 3"/>
          <p:cNvSpPr/>
          <p:nvPr/>
        </p:nvSpPr>
        <p:spPr>
          <a:xfrm>
            <a:off x="361188" y="1417320"/>
            <a:ext cx="2697480" cy="3200400"/>
          </a:xfrm>
          <a:prstGeom prst="rect">
            <a:avLst/>
          </a:prstGeom>
          <a:solidFill>
            <a:srgbClr val="FFFFFF"/>
          </a:solidFill>
          <a:ln w="6350">
            <a:solidFill>
              <a:srgbClr val="E7E5E4"/>
            </a:solidFill>
            <a:prstDash val="solid"/>
          </a:ln>
          <a:effectLst>
            <a:outerShdw sx="100000" sy="100000" kx="0" ky="0" algn="bl" rotWithShape="0" blurRad="152400" dist="38100" dir="5400000">
              <a:srgbClr val="000000">
                <a:alpha val="8000"/>
              </a:srgbClr>
            </a:outerShdw>
          </a:effectLst>
        </p:spPr>
      </p:sp>
      <p:sp>
        <p:nvSpPr>
          <p:cNvPr id="6" name="Shape 4"/>
          <p:cNvSpPr/>
          <p:nvPr/>
        </p:nvSpPr>
        <p:spPr>
          <a:xfrm>
            <a:off x="361188" y="1417320"/>
            <a:ext cx="2697480" cy="73152"/>
          </a:xfrm>
          <a:prstGeom prst="rect">
            <a:avLst/>
          </a:prstGeom>
          <a:solidFill>
            <a:srgbClr val="0D9488"/>
          </a:solidFill>
          <a:ln/>
        </p:spPr>
      </p:sp>
      <p:sp>
        <p:nvSpPr>
          <p:cNvPr id="7" name="Shape 5"/>
          <p:cNvSpPr/>
          <p:nvPr/>
        </p:nvSpPr>
        <p:spPr>
          <a:xfrm>
            <a:off x="1298448" y="1828800"/>
            <a:ext cx="822960" cy="822960"/>
          </a:xfrm>
          <a:prstGeom prst="ellipse">
            <a:avLst/>
          </a:prstGeom>
          <a:solidFill>
            <a:srgbClr val="0D9488"/>
          </a:solidFill>
          <a:ln/>
        </p:spPr>
      </p:sp>
      <p:pic>
        <p:nvPicPr>
          <p:cNvPr id="8" name="Image 0" descr="preencoded.png">    </p:cNvPr>
          <p:cNvPicPr>
            <a:picLocks noChangeAspect="1"/>
          </p:cNvPicPr>
          <p:nvPr/>
        </p:nvPicPr>
        <p:blipFill>
          <a:blip r:embed="rId1"/>
          <a:stretch>
            <a:fillRect/>
          </a:stretch>
        </p:blipFill>
        <p:spPr>
          <a:xfrm>
            <a:off x="1481328" y="2011680"/>
            <a:ext cx="457200" cy="457200"/>
          </a:xfrm>
          <a:prstGeom prst="rect">
            <a:avLst/>
          </a:prstGeom>
        </p:spPr>
      </p:pic>
      <p:sp>
        <p:nvSpPr>
          <p:cNvPr id="9" name="Text 6"/>
          <p:cNvSpPr/>
          <p:nvPr/>
        </p:nvSpPr>
        <p:spPr>
          <a:xfrm>
            <a:off x="525780" y="1618488"/>
            <a:ext cx="54864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L1</a:t>
            </a:r>
            <a:endParaRPr lang="en-US" sz="1000" dirty="0"/>
          </a:p>
        </p:txBody>
      </p:sp>
      <p:sp>
        <p:nvSpPr>
          <p:cNvPr id="10" name="Text 7"/>
          <p:cNvSpPr/>
          <p:nvPr/>
        </p:nvSpPr>
        <p:spPr>
          <a:xfrm>
            <a:off x="544068" y="2834640"/>
            <a:ext cx="2331720" cy="411480"/>
          </a:xfrm>
          <a:prstGeom prst="rect">
            <a:avLst/>
          </a:prstGeom>
          <a:noFill/>
          <a:ln/>
        </p:spPr>
        <p:txBody>
          <a:bodyPr wrap="square" lIns="0" tIns="0" rIns="0" bIns="0" rtlCol="0" anchor="ctr"/>
          <a:lstStyle/>
          <a:p>
            <a:pPr algn="ctr" indent="0" marL="0">
              <a:buNone/>
            </a:pPr>
            <a:r>
              <a:rPr lang="en-US" sz="2200" i="1" dirty="0">
                <a:solidFill>
                  <a:srgbClr val="1C1917"/>
                </a:solidFill>
                <a:latin typeface="Cambria" pitchFamily="34" charset="0"/>
                <a:ea typeface="Cambria" pitchFamily="34" charset="-122"/>
                <a:cs typeface="Cambria" pitchFamily="34" charset="-120"/>
              </a:rPr>
              <a:t>The Rulebook</a:t>
            </a:r>
            <a:endParaRPr lang="en-US" sz="2200" dirty="0"/>
          </a:p>
        </p:txBody>
      </p:sp>
      <p:sp>
        <p:nvSpPr>
          <p:cNvPr id="11" name="Text 8"/>
          <p:cNvSpPr/>
          <p:nvPr/>
        </p:nvSpPr>
        <p:spPr>
          <a:xfrm>
            <a:off x="544068" y="3291840"/>
            <a:ext cx="2331720" cy="320040"/>
          </a:xfrm>
          <a:prstGeom prst="rect">
            <a:avLst/>
          </a:prstGeom>
          <a:noFill/>
          <a:ln/>
        </p:spPr>
        <p:txBody>
          <a:bodyPr wrap="square" lIns="0" tIns="0" rIns="0" bIns="0" rtlCol="0" anchor="ctr"/>
          <a:lstStyle/>
          <a:p>
            <a:pPr algn="ctr" indent="0" marL="0">
              <a:buNone/>
            </a:pPr>
            <a:r>
              <a:rPr lang="en-US" sz="1400" i="1" dirty="0">
                <a:solidFill>
                  <a:srgbClr val="0D9488"/>
                </a:solidFill>
                <a:latin typeface="Cambria" pitchFamily="34" charset="0"/>
                <a:ea typeface="Cambria" pitchFamily="34" charset="-122"/>
                <a:cs typeface="Cambria" pitchFamily="34" charset="-120"/>
              </a:rPr>
              <a:t>"What applies?"</a:t>
            </a:r>
            <a:endParaRPr lang="en-US" sz="1400" dirty="0"/>
          </a:p>
        </p:txBody>
      </p:sp>
      <p:sp>
        <p:nvSpPr>
          <p:cNvPr id="12" name="Text 9"/>
          <p:cNvSpPr/>
          <p:nvPr/>
        </p:nvSpPr>
        <p:spPr>
          <a:xfrm>
            <a:off x="635508" y="3703320"/>
            <a:ext cx="2148840" cy="822960"/>
          </a:xfrm>
          <a:prstGeom prst="rect">
            <a:avLst/>
          </a:prstGeom>
          <a:noFill/>
          <a:ln/>
        </p:spPr>
        <p:txBody>
          <a:bodyPr wrap="square" lIns="0" tIns="0" rIns="0" bIns="0" rtlCol="0" anchor="ctr"/>
          <a:lstStyle/>
          <a:p>
            <a:pPr algn="ctr" indent="0" marL="0">
              <a:lnSpc>
                <a:spcPct val="130000"/>
              </a:lnSpc>
              <a:buNone/>
            </a:pPr>
            <a:r>
              <a:rPr lang="en-US" sz="1150" dirty="0">
                <a:solidFill>
                  <a:srgbClr val="44403C"/>
                </a:solidFill>
                <a:latin typeface="Calibri" pitchFamily="34" charset="0"/>
                <a:ea typeface="Calibri" pitchFamily="34" charset="-122"/>
                <a:cs typeface="Calibri" pitchFamily="34" charset="-120"/>
              </a:rPr>
              <a:t>Laws, internal policies, reply templates. Same for every tenant. Rarely changes.</a:t>
            </a:r>
            <a:endParaRPr lang="en-US" sz="1150" dirty="0"/>
          </a:p>
        </p:txBody>
      </p:sp>
      <p:sp>
        <p:nvSpPr>
          <p:cNvPr id="13" name="Shape 10"/>
          <p:cNvSpPr/>
          <p:nvPr/>
        </p:nvSpPr>
        <p:spPr>
          <a:xfrm>
            <a:off x="3223260" y="1417320"/>
            <a:ext cx="2697480" cy="3200400"/>
          </a:xfrm>
          <a:prstGeom prst="rect">
            <a:avLst/>
          </a:prstGeom>
          <a:solidFill>
            <a:srgbClr val="FFFFFF"/>
          </a:solidFill>
          <a:ln w="6350">
            <a:solidFill>
              <a:srgbClr val="E7E5E4"/>
            </a:solidFill>
            <a:prstDash val="solid"/>
          </a:ln>
          <a:effectLst>
            <a:outerShdw sx="100000" sy="100000" kx="0" ky="0" algn="bl" rotWithShape="0" blurRad="152400" dist="38100" dir="5400000">
              <a:srgbClr val="000000">
                <a:alpha val="8000"/>
              </a:srgbClr>
            </a:outerShdw>
          </a:effectLst>
        </p:spPr>
      </p:sp>
      <p:sp>
        <p:nvSpPr>
          <p:cNvPr id="14" name="Shape 11"/>
          <p:cNvSpPr/>
          <p:nvPr/>
        </p:nvSpPr>
        <p:spPr>
          <a:xfrm>
            <a:off x="3223260" y="1417320"/>
            <a:ext cx="2697480" cy="73152"/>
          </a:xfrm>
          <a:prstGeom prst="rect">
            <a:avLst/>
          </a:prstGeom>
          <a:solidFill>
            <a:srgbClr val="0D9488"/>
          </a:solidFill>
          <a:ln/>
        </p:spPr>
      </p:sp>
      <p:sp>
        <p:nvSpPr>
          <p:cNvPr id="15" name="Shape 12"/>
          <p:cNvSpPr/>
          <p:nvPr/>
        </p:nvSpPr>
        <p:spPr>
          <a:xfrm>
            <a:off x="4160520" y="1828800"/>
            <a:ext cx="822960" cy="822960"/>
          </a:xfrm>
          <a:prstGeom prst="ellipse">
            <a:avLst/>
          </a:prstGeom>
          <a:solidFill>
            <a:srgbClr val="0D9488"/>
          </a:solidFill>
          <a:ln/>
        </p:spPr>
      </p:sp>
      <p:pic>
        <p:nvPicPr>
          <p:cNvPr id="16" name="Image 1" descr="preencoded.png">    </p:cNvPr>
          <p:cNvPicPr>
            <a:picLocks noChangeAspect="1"/>
          </p:cNvPicPr>
          <p:nvPr/>
        </p:nvPicPr>
        <p:blipFill>
          <a:blip r:embed="rId2"/>
          <a:stretch>
            <a:fillRect/>
          </a:stretch>
        </p:blipFill>
        <p:spPr>
          <a:xfrm>
            <a:off x="4343400" y="2011680"/>
            <a:ext cx="457200" cy="457200"/>
          </a:xfrm>
          <a:prstGeom prst="rect">
            <a:avLst/>
          </a:prstGeom>
        </p:spPr>
      </p:pic>
      <p:sp>
        <p:nvSpPr>
          <p:cNvPr id="17" name="Text 13"/>
          <p:cNvSpPr/>
          <p:nvPr/>
        </p:nvSpPr>
        <p:spPr>
          <a:xfrm>
            <a:off x="3387852" y="1618488"/>
            <a:ext cx="54864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L2</a:t>
            </a:r>
            <a:endParaRPr lang="en-US" sz="1000" dirty="0"/>
          </a:p>
        </p:txBody>
      </p:sp>
      <p:sp>
        <p:nvSpPr>
          <p:cNvPr id="18" name="Text 14"/>
          <p:cNvSpPr/>
          <p:nvPr/>
        </p:nvSpPr>
        <p:spPr>
          <a:xfrm>
            <a:off x="3406140" y="2834640"/>
            <a:ext cx="2331720" cy="411480"/>
          </a:xfrm>
          <a:prstGeom prst="rect">
            <a:avLst/>
          </a:prstGeom>
          <a:noFill/>
          <a:ln/>
        </p:spPr>
        <p:txBody>
          <a:bodyPr wrap="square" lIns="0" tIns="0" rIns="0" bIns="0" rtlCol="0" anchor="ctr"/>
          <a:lstStyle/>
          <a:p>
            <a:pPr algn="ctr" indent="0" marL="0">
              <a:buNone/>
            </a:pPr>
            <a:r>
              <a:rPr lang="en-US" sz="2200" i="1" dirty="0">
                <a:solidFill>
                  <a:srgbClr val="1C1917"/>
                </a:solidFill>
                <a:latin typeface="Cambria" pitchFamily="34" charset="0"/>
                <a:ea typeface="Cambria" pitchFamily="34" charset="-122"/>
                <a:cs typeface="Cambria" pitchFamily="34" charset="-120"/>
              </a:rPr>
              <a:t>The Filing Cabinet</a:t>
            </a:r>
            <a:endParaRPr lang="en-US" sz="2200" dirty="0"/>
          </a:p>
        </p:txBody>
      </p:sp>
      <p:sp>
        <p:nvSpPr>
          <p:cNvPr id="19" name="Text 15"/>
          <p:cNvSpPr/>
          <p:nvPr/>
        </p:nvSpPr>
        <p:spPr>
          <a:xfrm>
            <a:off x="3406140" y="3291840"/>
            <a:ext cx="2331720" cy="320040"/>
          </a:xfrm>
          <a:prstGeom prst="rect">
            <a:avLst/>
          </a:prstGeom>
          <a:noFill/>
          <a:ln/>
        </p:spPr>
        <p:txBody>
          <a:bodyPr wrap="square" lIns="0" tIns="0" rIns="0" bIns="0" rtlCol="0" anchor="ctr"/>
          <a:lstStyle/>
          <a:p>
            <a:pPr algn="ctr" indent="0" marL="0">
              <a:buNone/>
            </a:pPr>
            <a:r>
              <a:rPr lang="en-US" sz="1400" i="1" dirty="0">
                <a:solidFill>
                  <a:srgbClr val="0D9488"/>
                </a:solidFill>
                <a:latin typeface="Cambria" pitchFamily="34" charset="0"/>
                <a:ea typeface="Cambria" pitchFamily="34" charset="-122"/>
                <a:cs typeface="Cambria" pitchFamily="34" charset="-120"/>
              </a:rPr>
              <a:t>"What is true right now?"</a:t>
            </a:r>
            <a:endParaRPr lang="en-US" sz="1400" dirty="0"/>
          </a:p>
        </p:txBody>
      </p:sp>
      <p:sp>
        <p:nvSpPr>
          <p:cNvPr id="20" name="Text 16"/>
          <p:cNvSpPr/>
          <p:nvPr/>
        </p:nvSpPr>
        <p:spPr>
          <a:xfrm>
            <a:off x="3497580" y="3703320"/>
            <a:ext cx="2148840" cy="822960"/>
          </a:xfrm>
          <a:prstGeom prst="rect">
            <a:avLst/>
          </a:prstGeom>
          <a:noFill/>
          <a:ln/>
        </p:spPr>
        <p:txBody>
          <a:bodyPr wrap="square" lIns="0" tIns="0" rIns="0" bIns="0" rtlCol="0" anchor="ctr"/>
          <a:lstStyle/>
          <a:p>
            <a:pPr algn="ctr" indent="0" marL="0">
              <a:lnSpc>
                <a:spcPct val="130000"/>
              </a:lnSpc>
              <a:buNone/>
            </a:pPr>
            <a:r>
              <a:rPr lang="en-US" sz="1150" dirty="0">
                <a:solidFill>
                  <a:srgbClr val="44403C"/>
                </a:solidFill>
                <a:latin typeface="Calibri" pitchFamily="34" charset="0"/>
                <a:ea typeface="Calibri" pitchFamily="34" charset="-122"/>
                <a:cs typeface="Calibri" pitchFamily="34" charset="-120"/>
              </a:rPr>
              <a:t>Tenants, leases, units, tickets, invoices, vendors — the live state of the business.</a:t>
            </a:r>
            <a:endParaRPr lang="en-US" sz="1150" dirty="0"/>
          </a:p>
        </p:txBody>
      </p:sp>
      <p:sp>
        <p:nvSpPr>
          <p:cNvPr id="21" name="Shape 17"/>
          <p:cNvSpPr/>
          <p:nvPr/>
        </p:nvSpPr>
        <p:spPr>
          <a:xfrm>
            <a:off x="6085332" y="1417320"/>
            <a:ext cx="2697480" cy="3200400"/>
          </a:xfrm>
          <a:prstGeom prst="rect">
            <a:avLst/>
          </a:prstGeom>
          <a:solidFill>
            <a:srgbClr val="FFFFFF"/>
          </a:solidFill>
          <a:ln w="6350">
            <a:solidFill>
              <a:srgbClr val="E7E5E4"/>
            </a:solidFill>
            <a:prstDash val="solid"/>
          </a:ln>
          <a:effectLst>
            <a:outerShdw sx="100000" sy="100000" kx="0" ky="0" algn="bl" rotWithShape="0" blurRad="152400" dist="38100" dir="5400000">
              <a:srgbClr val="000000">
                <a:alpha val="8000"/>
              </a:srgbClr>
            </a:outerShdw>
          </a:effectLst>
        </p:spPr>
      </p:sp>
      <p:sp>
        <p:nvSpPr>
          <p:cNvPr id="22" name="Shape 18"/>
          <p:cNvSpPr/>
          <p:nvPr/>
        </p:nvSpPr>
        <p:spPr>
          <a:xfrm>
            <a:off x="6085332" y="1417320"/>
            <a:ext cx="2697480" cy="73152"/>
          </a:xfrm>
          <a:prstGeom prst="rect">
            <a:avLst/>
          </a:prstGeom>
          <a:solidFill>
            <a:srgbClr val="0D9488"/>
          </a:solidFill>
          <a:ln/>
        </p:spPr>
      </p:sp>
      <p:sp>
        <p:nvSpPr>
          <p:cNvPr id="23" name="Shape 19"/>
          <p:cNvSpPr/>
          <p:nvPr/>
        </p:nvSpPr>
        <p:spPr>
          <a:xfrm>
            <a:off x="7022592" y="1828800"/>
            <a:ext cx="822960" cy="822960"/>
          </a:xfrm>
          <a:prstGeom prst="ellipse">
            <a:avLst/>
          </a:prstGeom>
          <a:solidFill>
            <a:srgbClr val="0D9488"/>
          </a:solidFill>
          <a:ln/>
        </p:spPr>
      </p:sp>
      <p:pic>
        <p:nvPicPr>
          <p:cNvPr id="24" name="Image 2" descr="preencoded.png">    </p:cNvPr>
          <p:cNvPicPr>
            <a:picLocks noChangeAspect="1"/>
          </p:cNvPicPr>
          <p:nvPr/>
        </p:nvPicPr>
        <p:blipFill>
          <a:blip r:embed="rId3"/>
          <a:stretch>
            <a:fillRect/>
          </a:stretch>
        </p:blipFill>
        <p:spPr>
          <a:xfrm>
            <a:off x="7205472" y="2011680"/>
            <a:ext cx="457200" cy="457200"/>
          </a:xfrm>
          <a:prstGeom prst="rect">
            <a:avLst/>
          </a:prstGeom>
        </p:spPr>
      </p:pic>
      <p:sp>
        <p:nvSpPr>
          <p:cNvPr id="25" name="Text 20"/>
          <p:cNvSpPr/>
          <p:nvPr/>
        </p:nvSpPr>
        <p:spPr>
          <a:xfrm>
            <a:off x="6249924" y="1618488"/>
            <a:ext cx="54864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L3</a:t>
            </a:r>
            <a:endParaRPr lang="en-US" sz="1000" dirty="0"/>
          </a:p>
        </p:txBody>
      </p:sp>
      <p:sp>
        <p:nvSpPr>
          <p:cNvPr id="26" name="Text 21"/>
          <p:cNvSpPr/>
          <p:nvPr/>
        </p:nvSpPr>
        <p:spPr>
          <a:xfrm>
            <a:off x="6268212" y="2834640"/>
            <a:ext cx="2331720" cy="411480"/>
          </a:xfrm>
          <a:prstGeom prst="rect">
            <a:avLst/>
          </a:prstGeom>
          <a:noFill/>
          <a:ln/>
        </p:spPr>
        <p:txBody>
          <a:bodyPr wrap="square" lIns="0" tIns="0" rIns="0" bIns="0" rtlCol="0" anchor="ctr"/>
          <a:lstStyle/>
          <a:p>
            <a:pPr algn="ctr" indent="0" marL="0">
              <a:buNone/>
            </a:pPr>
            <a:r>
              <a:rPr lang="en-US" sz="2200" i="1" dirty="0">
                <a:solidFill>
                  <a:srgbClr val="1C1917"/>
                </a:solidFill>
                <a:latin typeface="Cambria" pitchFamily="34" charset="0"/>
                <a:ea typeface="Cambria" pitchFamily="34" charset="-122"/>
                <a:cs typeface="Cambria" pitchFamily="34" charset="-120"/>
              </a:rPr>
              <a:t>The Memory</a:t>
            </a:r>
            <a:endParaRPr lang="en-US" sz="2200" dirty="0"/>
          </a:p>
        </p:txBody>
      </p:sp>
      <p:sp>
        <p:nvSpPr>
          <p:cNvPr id="27" name="Text 22"/>
          <p:cNvSpPr/>
          <p:nvPr/>
        </p:nvSpPr>
        <p:spPr>
          <a:xfrm>
            <a:off x="6268212" y="3291840"/>
            <a:ext cx="2331720" cy="320040"/>
          </a:xfrm>
          <a:prstGeom prst="rect">
            <a:avLst/>
          </a:prstGeom>
          <a:noFill/>
          <a:ln/>
        </p:spPr>
        <p:txBody>
          <a:bodyPr wrap="square" lIns="0" tIns="0" rIns="0" bIns="0" rtlCol="0" anchor="ctr"/>
          <a:lstStyle/>
          <a:p>
            <a:pPr algn="ctr" indent="0" marL="0">
              <a:buNone/>
            </a:pPr>
            <a:r>
              <a:rPr lang="en-US" sz="1400" i="1" dirty="0">
                <a:solidFill>
                  <a:srgbClr val="0D9488"/>
                </a:solidFill>
                <a:latin typeface="Cambria" pitchFamily="34" charset="0"/>
                <a:ea typeface="Cambria" pitchFamily="34" charset="-122"/>
                <a:cs typeface="Cambria" pitchFamily="34" charset="-120"/>
              </a:rPr>
              <a:t>"What have we learned?"</a:t>
            </a:r>
            <a:endParaRPr lang="en-US" sz="1400" dirty="0"/>
          </a:p>
        </p:txBody>
      </p:sp>
      <p:sp>
        <p:nvSpPr>
          <p:cNvPr id="28" name="Text 23"/>
          <p:cNvSpPr/>
          <p:nvPr/>
        </p:nvSpPr>
        <p:spPr>
          <a:xfrm>
            <a:off x="6359652" y="3703320"/>
            <a:ext cx="2148840" cy="822960"/>
          </a:xfrm>
          <a:prstGeom prst="rect">
            <a:avLst/>
          </a:prstGeom>
          <a:noFill/>
          <a:ln/>
        </p:spPr>
        <p:txBody>
          <a:bodyPr wrap="square" lIns="0" tIns="0" rIns="0" bIns="0" rtlCol="0" anchor="ctr"/>
          <a:lstStyle/>
          <a:p>
            <a:pPr algn="ctr" indent="0" marL="0">
              <a:lnSpc>
                <a:spcPct val="130000"/>
              </a:lnSpc>
              <a:buNone/>
            </a:pPr>
            <a:r>
              <a:rPr lang="en-US" sz="1150" dirty="0">
                <a:solidFill>
                  <a:srgbClr val="44403C"/>
                </a:solidFill>
                <a:latin typeface="Calibri" pitchFamily="34" charset="0"/>
                <a:ea typeface="Calibri" pitchFamily="34" charset="-122"/>
                <a:cs typeface="Calibri" pitchFamily="34" charset="-120"/>
              </a:rPr>
              <a:t>Patterns derived from every past message — the contextual knowledge a 20-year manager has in their head.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7955280" y="365760"/>
            <a:ext cx="914400" cy="228600"/>
          </a:xfrm>
          <a:prstGeom prst="rect">
            <a:avLst/>
          </a:prstGeom>
          <a:noFill/>
          <a:ln/>
        </p:spPr>
        <p:txBody>
          <a:bodyPr wrap="square" lIns="0" tIns="0" rIns="0" bIns="0" rtlCol="0" anchor="ctr"/>
          <a:lstStyle/>
          <a:p>
            <a:pPr algn="r" indent="0" marL="0">
              <a:buNone/>
            </a:pPr>
            <a:r>
              <a:rPr lang="en-US" sz="900" b="1" spc="300" kern="0" dirty="0">
                <a:solidFill>
                  <a:srgbClr val="78716C"/>
                </a:solidFill>
                <a:latin typeface="Calibri" pitchFamily="34" charset="0"/>
                <a:ea typeface="Calibri" pitchFamily="34" charset="-122"/>
                <a:cs typeface="Calibri" pitchFamily="34" charset="-120"/>
              </a:rPr>
              <a:t>03</a:t>
            </a:r>
            <a:endParaRPr lang="en-US" sz="900" dirty="0"/>
          </a:p>
        </p:txBody>
      </p:sp>
      <p:sp>
        <p:nvSpPr>
          <p:cNvPr id="3" name="Text 1"/>
          <p:cNvSpPr/>
          <p:nvPr/>
        </p:nvSpPr>
        <p:spPr>
          <a:xfrm>
            <a:off x="457200" y="347472"/>
            <a:ext cx="8229600" cy="256032"/>
          </a:xfrm>
          <a:prstGeom prst="rect">
            <a:avLst/>
          </a:prstGeom>
          <a:noFill/>
          <a:ln/>
        </p:spPr>
        <p:txBody>
          <a:bodyPr wrap="square" lIns="0" tIns="0" rIns="0" bIns="0" rtlCol="0" anchor="ctr"/>
          <a:lstStyle/>
          <a:p>
            <a:pPr indent="0" marL="0">
              <a:buNone/>
            </a:pPr>
            <a:r>
              <a:rPr lang="en-US" sz="1100" b="1" spc="300" kern="0" dirty="0">
                <a:solidFill>
                  <a:srgbClr val="0D9488"/>
                </a:solidFill>
                <a:latin typeface="Calibri" pitchFamily="34" charset="0"/>
                <a:ea typeface="Calibri" pitchFamily="34" charset="-122"/>
                <a:cs typeface="Calibri" pitchFamily="34" charset="-120"/>
              </a:rPr>
              <a:t>STORE ONE</a:t>
            </a:r>
            <a:endParaRPr lang="en-US" sz="1100" dirty="0"/>
          </a:p>
        </p:txBody>
      </p:sp>
      <p:sp>
        <p:nvSpPr>
          <p:cNvPr id="4" name="Shape 2"/>
          <p:cNvSpPr/>
          <p:nvPr/>
        </p:nvSpPr>
        <p:spPr>
          <a:xfrm>
            <a:off x="457200" y="603504"/>
            <a:ext cx="640080" cy="640080"/>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594360" y="740664"/>
            <a:ext cx="365760" cy="365760"/>
          </a:xfrm>
          <a:prstGeom prst="rect">
            <a:avLst/>
          </a:prstGeom>
        </p:spPr>
      </p:pic>
      <p:sp>
        <p:nvSpPr>
          <p:cNvPr id="6" name="Text 3"/>
          <p:cNvSpPr/>
          <p:nvPr/>
        </p:nvSpPr>
        <p:spPr>
          <a:xfrm>
            <a:off x="1234440" y="603504"/>
            <a:ext cx="640080" cy="292608"/>
          </a:xfrm>
          <a:prstGeom prst="rect">
            <a:avLst/>
          </a:prstGeom>
          <a:noFill/>
          <a:ln/>
        </p:spPr>
        <p:txBody>
          <a:bodyPr wrap="square" lIns="0" tIns="0" rIns="0" bIns="0" rtlCol="0" anchor="ctr"/>
          <a:lstStyle/>
          <a:p>
            <a:pPr indent="0" marL="0">
              <a:buNone/>
            </a:pPr>
            <a:r>
              <a:rPr lang="en-US" sz="1100" b="1" spc="400" kern="0" dirty="0">
                <a:solidFill>
                  <a:srgbClr val="0D9488"/>
                </a:solidFill>
                <a:latin typeface="Calibri" pitchFamily="34" charset="0"/>
                <a:ea typeface="Calibri" pitchFamily="34" charset="-122"/>
                <a:cs typeface="Calibri" pitchFamily="34" charset="-120"/>
              </a:rPr>
              <a:t>L1</a:t>
            </a:r>
            <a:endParaRPr lang="en-US" sz="1100" dirty="0"/>
          </a:p>
        </p:txBody>
      </p:sp>
      <p:sp>
        <p:nvSpPr>
          <p:cNvPr id="7" name="Text 4"/>
          <p:cNvSpPr/>
          <p:nvPr/>
        </p:nvSpPr>
        <p:spPr>
          <a:xfrm>
            <a:off x="1234440" y="841248"/>
            <a:ext cx="7315200" cy="457200"/>
          </a:xfrm>
          <a:prstGeom prst="rect">
            <a:avLst/>
          </a:prstGeom>
          <a:noFill/>
          <a:ln/>
        </p:spPr>
        <p:txBody>
          <a:bodyPr wrap="square" lIns="0" tIns="0" rIns="0" bIns="0" rtlCol="0" anchor="ctr"/>
          <a:lstStyle/>
          <a:p>
            <a:pPr indent="0" marL="0">
              <a:buNone/>
            </a:pPr>
            <a:r>
              <a:rPr lang="en-US" sz="2800" i="1" dirty="0">
                <a:solidFill>
                  <a:srgbClr val="1C1917"/>
                </a:solidFill>
                <a:latin typeface="Cambria" pitchFamily="34" charset="0"/>
                <a:ea typeface="Cambria" pitchFamily="34" charset="-122"/>
                <a:cs typeface="Cambria" pitchFamily="34" charset="-120"/>
              </a:rPr>
              <a:t>The Rulebook</a:t>
            </a:r>
            <a:endParaRPr lang="en-US" sz="2800" dirty="0"/>
          </a:p>
        </p:txBody>
      </p:sp>
      <p:sp>
        <p:nvSpPr>
          <p:cNvPr id="8" name="Text 5"/>
          <p:cNvSpPr/>
          <p:nvPr/>
        </p:nvSpPr>
        <p:spPr>
          <a:xfrm>
            <a:off x="457200" y="1463040"/>
            <a:ext cx="8229600" cy="365760"/>
          </a:xfrm>
          <a:prstGeom prst="rect">
            <a:avLst/>
          </a:prstGeom>
          <a:noFill/>
          <a:ln/>
        </p:spPr>
        <p:txBody>
          <a:bodyPr wrap="square" lIns="0" tIns="0" rIns="0" bIns="0" rtlCol="0" anchor="ctr"/>
          <a:lstStyle/>
          <a:p>
            <a:pPr indent="0" marL="0">
              <a:buNone/>
            </a:pPr>
            <a:r>
              <a:rPr lang="en-US" sz="1600" i="1" dirty="0">
                <a:solidFill>
                  <a:srgbClr val="0D9488"/>
                </a:solidFill>
                <a:latin typeface="Cambria" pitchFamily="34" charset="0"/>
                <a:ea typeface="Cambria" pitchFamily="34" charset="-122"/>
                <a:cs typeface="Cambria" pitchFamily="34" charset="-120"/>
              </a:rPr>
              <a:t>"What applies — by law, by policy, by template?"</a:t>
            </a:r>
            <a:endParaRPr lang="en-US" sz="1600" dirty="0"/>
          </a:p>
        </p:txBody>
      </p:sp>
      <p:sp>
        <p:nvSpPr>
          <p:cNvPr id="9" name="Text 6"/>
          <p:cNvSpPr/>
          <p:nvPr/>
        </p:nvSpPr>
        <p:spPr>
          <a:xfrm>
            <a:off x="457200" y="1874520"/>
            <a:ext cx="8229600" cy="640080"/>
          </a:xfrm>
          <a:prstGeom prst="rect">
            <a:avLst/>
          </a:prstGeom>
          <a:noFill/>
          <a:ln/>
        </p:spPr>
        <p:txBody>
          <a:bodyPr wrap="square" lIns="0" tIns="0" rIns="0" bIns="0" rtlCol="0" anchor="ctr"/>
          <a:lstStyle/>
          <a:p>
            <a:pPr indent="0" marL="0">
              <a:lnSpc>
                <a:spcPct val="135000"/>
              </a:lnSpc>
              <a:buNone/>
            </a:pPr>
            <a:r>
              <a:rPr lang="en-US" sz="1300" dirty="0">
                <a:solidFill>
                  <a:srgbClr val="44403C"/>
                </a:solidFill>
                <a:latin typeface="Calibri" pitchFamily="34" charset="0"/>
                <a:ea typeface="Calibri" pitchFamily="34" charset="-122"/>
                <a:cs typeface="Calibri" pitchFamily="34" charset="-120"/>
              </a:rPr>
              <a:t>Things that are the same for every tenant and every property, and rarely change. Fletcher quotes from here verbatim — it never invents legal references.</a:t>
            </a:r>
            <a:endParaRPr lang="en-US" sz="1300" dirty="0"/>
          </a:p>
        </p:txBody>
      </p:sp>
      <p:sp>
        <p:nvSpPr>
          <p:cNvPr id="10" name="Shape 7"/>
          <p:cNvSpPr/>
          <p:nvPr/>
        </p:nvSpPr>
        <p:spPr>
          <a:xfrm>
            <a:off x="457200" y="2697480"/>
            <a:ext cx="5212080" cy="2103120"/>
          </a:xfrm>
          <a:prstGeom prst="rect">
            <a:avLst/>
          </a:prstGeom>
          <a:solidFill>
            <a:srgbClr val="FFFFFF"/>
          </a:solidFill>
          <a:ln w="6350">
            <a:solidFill>
              <a:srgbClr val="E7E5E4"/>
            </a:solidFill>
            <a:prstDash val="solid"/>
          </a:ln>
          <a:effectLst>
            <a:outerShdw sx="100000" sy="100000" kx="0" ky="0" algn="bl" rotWithShape="0" blurRad="152400" dist="38100" dir="5400000">
              <a:srgbClr val="000000">
                <a:alpha val="8000"/>
              </a:srgbClr>
            </a:outerShdw>
          </a:effectLst>
        </p:spPr>
      </p:sp>
      <p:sp>
        <p:nvSpPr>
          <p:cNvPr id="11" name="Shape 8"/>
          <p:cNvSpPr/>
          <p:nvPr/>
        </p:nvSpPr>
        <p:spPr>
          <a:xfrm>
            <a:off x="457200" y="2697480"/>
            <a:ext cx="54864" cy="2103120"/>
          </a:xfrm>
          <a:prstGeom prst="rect">
            <a:avLst/>
          </a:prstGeom>
          <a:solidFill>
            <a:srgbClr val="0D9488"/>
          </a:solidFill>
          <a:ln/>
        </p:spPr>
      </p:sp>
      <p:sp>
        <p:nvSpPr>
          <p:cNvPr id="12" name="Text 9"/>
          <p:cNvSpPr/>
          <p:nvPr/>
        </p:nvSpPr>
        <p:spPr>
          <a:xfrm>
            <a:off x="685800" y="2816352"/>
            <a:ext cx="4846320" cy="228600"/>
          </a:xfrm>
          <a:prstGeom prst="rect">
            <a:avLst/>
          </a:prstGeom>
          <a:noFill/>
          <a:ln/>
        </p:spPr>
        <p:txBody>
          <a:bodyPr wrap="square" lIns="0" tIns="0" rIns="0" bIns="0" rtlCol="0" anchor="ctr"/>
          <a:lstStyle/>
          <a:p>
            <a:pPr indent="0" marL="0">
              <a:buNone/>
            </a:pPr>
            <a:r>
              <a:rPr lang="en-US" sz="900" b="1" spc="300" kern="0" dirty="0">
                <a:solidFill>
                  <a:srgbClr val="78716C"/>
                </a:solidFill>
                <a:latin typeface="Calibri" pitchFamily="34" charset="0"/>
                <a:ea typeface="Calibri" pitchFamily="34" charset="-122"/>
                <a:cs typeface="Calibri" pitchFamily="34" charset="-120"/>
              </a:rPr>
              <a:t>EXAMPLES</a:t>
            </a:r>
            <a:endParaRPr lang="en-US" sz="900" dirty="0"/>
          </a:p>
        </p:txBody>
      </p:sp>
      <p:sp>
        <p:nvSpPr>
          <p:cNvPr id="13" name="Text 10"/>
          <p:cNvSpPr/>
          <p:nvPr/>
        </p:nvSpPr>
        <p:spPr>
          <a:xfrm>
            <a:off x="777240" y="3063240"/>
            <a:ext cx="4754880" cy="169164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C1917"/>
                </a:solidFill>
                <a:latin typeface="Calibri" pitchFamily="34" charset="0"/>
                <a:ea typeface="Calibri" pitchFamily="34" charset="-122"/>
                <a:cs typeface="Calibri" pitchFamily="34" charset="-120"/>
              </a:rPr>
              <a:t>BGB § 535 (landlord duty to maintain), § 536 (rent reduction), § 556 (operating-cost statements)</a:t>
            </a:r>
            <a:endParaRPr lang="en-US" sz="1150" dirty="0"/>
          </a:p>
          <a:p>
            <a:pPr marL="342900" indent="-342900">
              <a:spcAft>
                <a:spcPts val="400"/>
              </a:spcAft>
              <a:buSzPct val="100000"/>
              <a:buChar char="●"/>
            </a:pPr>
            <a:r>
              <a:rPr lang="en-US" sz="1150" dirty="0">
                <a:solidFill>
                  <a:srgbClr val="1C1917"/>
                </a:solidFill>
                <a:latin typeface="Calibri" pitchFamily="34" charset="0"/>
                <a:ea typeface="Calibri" pitchFamily="34" charset="-122"/>
                <a:cs typeface="Calibri" pitchFamily="34" charset="-120"/>
              </a:rPr>
              <a:t>BetrKV — which operating costs are passable to tenants</a:t>
            </a:r>
            <a:endParaRPr lang="en-US" sz="1150" dirty="0"/>
          </a:p>
          <a:p>
            <a:pPr marL="342900" indent="-342900">
              <a:spcAft>
                <a:spcPts val="400"/>
              </a:spcAft>
              <a:buSzPct val="100000"/>
              <a:buChar char="●"/>
            </a:pPr>
            <a:r>
              <a:rPr lang="en-US" sz="1150" dirty="0">
                <a:solidFill>
                  <a:srgbClr val="1C1917"/>
                </a:solidFill>
                <a:latin typeface="Calibri" pitchFamily="34" charset="0"/>
                <a:ea typeface="Calibri" pitchFamily="34" charset="-122"/>
                <a:cs typeface="Calibri" pitchFamily="34" charset="-120"/>
              </a:rPr>
              <a:t>Internal policies — 4-hour response window for heating outages, escalation thresholds</a:t>
            </a:r>
            <a:endParaRPr lang="en-US" sz="1150" dirty="0"/>
          </a:p>
          <a:p>
            <a:pPr marL="342900" indent="-342900">
              <a:spcAft>
                <a:spcPts val="400"/>
              </a:spcAft>
              <a:buSzPct val="100000"/>
              <a:buChar char="●"/>
            </a:pPr>
            <a:r>
              <a:rPr lang="en-US" sz="1150" dirty="0">
                <a:solidFill>
                  <a:srgbClr val="1C1917"/>
                </a:solidFill>
                <a:latin typeface="Calibri" pitchFamily="34" charset="0"/>
                <a:ea typeface="Calibri" pitchFamily="34" charset="-122"/>
                <a:cs typeface="Calibri" pitchFamily="34" charset="-120"/>
              </a:rPr>
              <a:t>Reply templates — defect acknowledgement, document request, appointment confirmation</a:t>
            </a:r>
            <a:endParaRPr lang="en-US" sz="1150" dirty="0"/>
          </a:p>
        </p:txBody>
      </p:sp>
      <p:sp>
        <p:nvSpPr>
          <p:cNvPr id="14" name="Shape 11"/>
          <p:cNvSpPr/>
          <p:nvPr/>
        </p:nvSpPr>
        <p:spPr>
          <a:xfrm>
            <a:off x="5852160" y="2697480"/>
            <a:ext cx="2834640" cy="1371600"/>
          </a:xfrm>
          <a:prstGeom prst="rect">
            <a:avLst/>
          </a:prstGeom>
          <a:solidFill>
            <a:srgbClr val="F0FDFA"/>
          </a:solidFill>
          <a:ln w="6350">
            <a:solidFill>
              <a:srgbClr val="CCFBF1"/>
            </a:solidFill>
            <a:prstDash val="solid"/>
          </a:ln>
        </p:spPr>
      </p:sp>
      <p:pic>
        <p:nvPicPr>
          <p:cNvPr id="15" name="Image 1" descr="preencoded.png">    </p:cNvPr>
          <p:cNvPicPr>
            <a:picLocks noChangeAspect="1"/>
          </p:cNvPicPr>
          <p:nvPr/>
        </p:nvPicPr>
        <p:blipFill>
          <a:blip r:embed="rId2"/>
          <a:stretch>
            <a:fillRect/>
          </a:stretch>
        </p:blipFill>
        <p:spPr>
          <a:xfrm>
            <a:off x="5989320" y="2788920"/>
            <a:ext cx="201168" cy="201168"/>
          </a:xfrm>
          <a:prstGeom prst="rect">
            <a:avLst/>
          </a:prstGeom>
        </p:spPr>
      </p:pic>
      <p:sp>
        <p:nvSpPr>
          <p:cNvPr id="16" name="Text 12"/>
          <p:cNvSpPr/>
          <p:nvPr/>
        </p:nvSpPr>
        <p:spPr>
          <a:xfrm>
            <a:off x="5989320" y="3035808"/>
            <a:ext cx="2606040" cy="914400"/>
          </a:xfrm>
          <a:prstGeom prst="rect">
            <a:avLst/>
          </a:prstGeom>
          <a:noFill/>
          <a:ln/>
        </p:spPr>
        <p:txBody>
          <a:bodyPr wrap="square" lIns="0" tIns="0" rIns="0" bIns="0" rtlCol="0" anchor="ctr"/>
          <a:lstStyle/>
          <a:p>
            <a:pPr indent="0" marL="0">
              <a:lnSpc>
                <a:spcPct val="130000"/>
              </a:lnSpc>
              <a:buNone/>
            </a:pPr>
            <a:r>
              <a:rPr lang="en-US" sz="1200" i="1" dirty="0">
                <a:solidFill>
                  <a:srgbClr val="115E59"/>
                </a:solidFill>
                <a:latin typeface="Cambria" pitchFamily="34" charset="0"/>
                <a:ea typeface="Cambria" pitchFamily="34" charset="-122"/>
                <a:cs typeface="Cambria" pitchFamily="34" charset="-120"/>
              </a:rPr>
              <a:t>Every legal citation in a Fletcher reply traces back to a specific clause in this store. If the rule isn't here, Fletcher won't claim it.</a:t>
            </a:r>
            <a:endParaRPr lang="en-US" sz="1200" dirty="0"/>
          </a:p>
        </p:txBody>
      </p:sp>
      <p:sp>
        <p:nvSpPr>
          <p:cNvPr id="17" name="Text 13"/>
          <p:cNvSpPr/>
          <p:nvPr/>
        </p:nvSpPr>
        <p:spPr>
          <a:xfrm>
            <a:off x="5852160" y="4206240"/>
            <a:ext cx="2834640" cy="201168"/>
          </a:xfrm>
          <a:prstGeom prst="rect">
            <a:avLst/>
          </a:prstGeom>
          <a:noFill/>
          <a:ln/>
        </p:spPr>
        <p:txBody>
          <a:bodyPr wrap="square" lIns="0" tIns="0" rIns="0" bIns="0" rtlCol="0" anchor="ctr"/>
          <a:lstStyle/>
          <a:p>
            <a:pPr indent="0" marL="0">
              <a:buNone/>
            </a:pPr>
            <a:r>
              <a:rPr lang="en-US" sz="900" b="1" spc="300" kern="0" dirty="0">
                <a:solidFill>
                  <a:srgbClr val="78716C"/>
                </a:solidFill>
                <a:latin typeface="Calibri" pitchFamily="34" charset="0"/>
                <a:ea typeface="Calibri" pitchFamily="34" charset="-122"/>
                <a:cs typeface="Calibri" pitchFamily="34" charset="-120"/>
              </a:rPr>
              <a:t>UNDER THE HOOD</a:t>
            </a:r>
            <a:endParaRPr lang="en-US" sz="900" dirty="0"/>
          </a:p>
        </p:txBody>
      </p:sp>
      <p:sp>
        <p:nvSpPr>
          <p:cNvPr id="18" name="Text 14"/>
          <p:cNvSpPr/>
          <p:nvPr/>
        </p:nvSpPr>
        <p:spPr>
          <a:xfrm>
            <a:off x="5852160" y="4434840"/>
            <a:ext cx="2834640" cy="411480"/>
          </a:xfrm>
          <a:prstGeom prst="rect">
            <a:avLst/>
          </a:prstGeom>
          <a:noFill/>
          <a:ln/>
        </p:spPr>
        <p:txBody>
          <a:bodyPr wrap="square" lIns="0" tIns="0" rIns="0" bIns="0" rtlCol="0" anchor="ctr"/>
          <a:lstStyle/>
          <a:p>
            <a:pPr indent="0" marL="0">
              <a:lnSpc>
                <a:spcPct val="125000"/>
              </a:lnSpc>
              <a:buNone/>
            </a:pPr>
            <a:r>
              <a:rPr lang="en-US" sz="1050" i="1" dirty="0">
                <a:solidFill>
                  <a:srgbClr val="44403C"/>
                </a:solidFill>
                <a:latin typeface="Calibri" pitchFamily="34" charset="0"/>
                <a:ea typeface="Calibri" pitchFamily="34" charset="-122"/>
                <a:cs typeface="Calibri" pitchFamily="34" charset="-120"/>
              </a:rPr>
              <a:t>Markdown files in the repository. Full-text search via BM25. Versioned in git like a living manual.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7955280" y="365760"/>
            <a:ext cx="914400" cy="228600"/>
          </a:xfrm>
          <a:prstGeom prst="rect">
            <a:avLst/>
          </a:prstGeom>
          <a:noFill/>
          <a:ln/>
        </p:spPr>
        <p:txBody>
          <a:bodyPr wrap="square" lIns="0" tIns="0" rIns="0" bIns="0" rtlCol="0" anchor="ctr"/>
          <a:lstStyle/>
          <a:p>
            <a:pPr algn="r" indent="0" marL="0">
              <a:buNone/>
            </a:pPr>
            <a:r>
              <a:rPr lang="en-US" sz="900" b="1" spc="300" kern="0" dirty="0">
                <a:solidFill>
                  <a:srgbClr val="78716C"/>
                </a:solidFill>
                <a:latin typeface="Calibri" pitchFamily="34" charset="0"/>
                <a:ea typeface="Calibri" pitchFamily="34" charset="-122"/>
                <a:cs typeface="Calibri" pitchFamily="34" charset="-120"/>
              </a:rPr>
              <a:t>04</a:t>
            </a:r>
            <a:endParaRPr lang="en-US" sz="900" dirty="0"/>
          </a:p>
        </p:txBody>
      </p:sp>
      <p:sp>
        <p:nvSpPr>
          <p:cNvPr id="3" name="Text 1"/>
          <p:cNvSpPr/>
          <p:nvPr/>
        </p:nvSpPr>
        <p:spPr>
          <a:xfrm>
            <a:off x="457200" y="347472"/>
            <a:ext cx="8229600" cy="256032"/>
          </a:xfrm>
          <a:prstGeom prst="rect">
            <a:avLst/>
          </a:prstGeom>
          <a:noFill/>
          <a:ln/>
        </p:spPr>
        <p:txBody>
          <a:bodyPr wrap="square" lIns="0" tIns="0" rIns="0" bIns="0" rtlCol="0" anchor="ctr"/>
          <a:lstStyle/>
          <a:p>
            <a:pPr indent="0" marL="0">
              <a:buNone/>
            </a:pPr>
            <a:r>
              <a:rPr lang="en-US" sz="1100" b="1" spc="300" kern="0" dirty="0">
                <a:solidFill>
                  <a:srgbClr val="0D9488"/>
                </a:solidFill>
                <a:latin typeface="Calibri" pitchFamily="34" charset="0"/>
                <a:ea typeface="Calibri" pitchFamily="34" charset="-122"/>
                <a:cs typeface="Calibri" pitchFamily="34" charset="-120"/>
              </a:rPr>
              <a:t>STORE TWO</a:t>
            </a:r>
            <a:endParaRPr lang="en-US" sz="1100" dirty="0"/>
          </a:p>
        </p:txBody>
      </p:sp>
      <p:sp>
        <p:nvSpPr>
          <p:cNvPr id="4" name="Shape 2"/>
          <p:cNvSpPr/>
          <p:nvPr/>
        </p:nvSpPr>
        <p:spPr>
          <a:xfrm>
            <a:off x="457200" y="603504"/>
            <a:ext cx="640080" cy="640080"/>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594360" y="740664"/>
            <a:ext cx="365760" cy="365760"/>
          </a:xfrm>
          <a:prstGeom prst="rect">
            <a:avLst/>
          </a:prstGeom>
        </p:spPr>
      </p:pic>
      <p:sp>
        <p:nvSpPr>
          <p:cNvPr id="6" name="Text 3"/>
          <p:cNvSpPr/>
          <p:nvPr/>
        </p:nvSpPr>
        <p:spPr>
          <a:xfrm>
            <a:off x="1234440" y="603504"/>
            <a:ext cx="640080" cy="292608"/>
          </a:xfrm>
          <a:prstGeom prst="rect">
            <a:avLst/>
          </a:prstGeom>
          <a:noFill/>
          <a:ln/>
        </p:spPr>
        <p:txBody>
          <a:bodyPr wrap="square" lIns="0" tIns="0" rIns="0" bIns="0" rtlCol="0" anchor="ctr"/>
          <a:lstStyle/>
          <a:p>
            <a:pPr indent="0" marL="0">
              <a:buNone/>
            </a:pPr>
            <a:r>
              <a:rPr lang="en-US" sz="1100" b="1" spc="400" kern="0" dirty="0">
                <a:solidFill>
                  <a:srgbClr val="0D9488"/>
                </a:solidFill>
                <a:latin typeface="Calibri" pitchFamily="34" charset="0"/>
                <a:ea typeface="Calibri" pitchFamily="34" charset="-122"/>
                <a:cs typeface="Calibri" pitchFamily="34" charset="-120"/>
              </a:rPr>
              <a:t>L2</a:t>
            </a:r>
            <a:endParaRPr lang="en-US" sz="1100" dirty="0"/>
          </a:p>
        </p:txBody>
      </p:sp>
      <p:sp>
        <p:nvSpPr>
          <p:cNvPr id="7" name="Text 4"/>
          <p:cNvSpPr/>
          <p:nvPr/>
        </p:nvSpPr>
        <p:spPr>
          <a:xfrm>
            <a:off x="1234440" y="841248"/>
            <a:ext cx="7315200" cy="457200"/>
          </a:xfrm>
          <a:prstGeom prst="rect">
            <a:avLst/>
          </a:prstGeom>
          <a:noFill/>
          <a:ln/>
        </p:spPr>
        <p:txBody>
          <a:bodyPr wrap="square" lIns="0" tIns="0" rIns="0" bIns="0" rtlCol="0" anchor="ctr"/>
          <a:lstStyle/>
          <a:p>
            <a:pPr indent="0" marL="0">
              <a:buNone/>
            </a:pPr>
            <a:r>
              <a:rPr lang="en-US" sz="2800" i="1" dirty="0">
                <a:solidFill>
                  <a:srgbClr val="1C1917"/>
                </a:solidFill>
                <a:latin typeface="Cambria" pitchFamily="34" charset="0"/>
                <a:ea typeface="Cambria" pitchFamily="34" charset="-122"/>
                <a:cs typeface="Cambria" pitchFamily="34" charset="-120"/>
              </a:rPr>
              <a:t>The Filing Cabinet</a:t>
            </a:r>
            <a:endParaRPr lang="en-US" sz="2800" dirty="0"/>
          </a:p>
        </p:txBody>
      </p:sp>
      <p:sp>
        <p:nvSpPr>
          <p:cNvPr id="8" name="Text 5"/>
          <p:cNvSpPr/>
          <p:nvPr/>
        </p:nvSpPr>
        <p:spPr>
          <a:xfrm>
            <a:off x="457200" y="1463040"/>
            <a:ext cx="8229600" cy="365760"/>
          </a:xfrm>
          <a:prstGeom prst="rect">
            <a:avLst/>
          </a:prstGeom>
          <a:noFill/>
          <a:ln/>
        </p:spPr>
        <p:txBody>
          <a:bodyPr wrap="square" lIns="0" tIns="0" rIns="0" bIns="0" rtlCol="0" anchor="ctr"/>
          <a:lstStyle/>
          <a:p>
            <a:pPr indent="0" marL="0">
              <a:buNone/>
            </a:pPr>
            <a:r>
              <a:rPr lang="en-US" sz="1600" i="1" dirty="0">
                <a:solidFill>
                  <a:srgbClr val="0D9488"/>
                </a:solidFill>
                <a:latin typeface="Cambria" pitchFamily="34" charset="0"/>
                <a:ea typeface="Cambria" pitchFamily="34" charset="-122"/>
                <a:cs typeface="Cambria" pitchFamily="34" charset="-120"/>
              </a:rPr>
              <a:t>"What is the current state of the world?"</a:t>
            </a:r>
            <a:endParaRPr lang="en-US" sz="1600" dirty="0"/>
          </a:p>
        </p:txBody>
      </p:sp>
      <p:sp>
        <p:nvSpPr>
          <p:cNvPr id="9" name="Text 6"/>
          <p:cNvSpPr/>
          <p:nvPr/>
        </p:nvSpPr>
        <p:spPr>
          <a:xfrm>
            <a:off x="457200" y="1874520"/>
            <a:ext cx="8229600" cy="640080"/>
          </a:xfrm>
          <a:prstGeom prst="rect">
            <a:avLst/>
          </a:prstGeom>
          <a:noFill/>
          <a:ln/>
        </p:spPr>
        <p:txBody>
          <a:bodyPr wrap="square" lIns="0" tIns="0" rIns="0" bIns="0" rtlCol="0" anchor="ctr"/>
          <a:lstStyle/>
          <a:p>
            <a:pPr indent="0" marL="0">
              <a:lnSpc>
                <a:spcPct val="135000"/>
              </a:lnSpc>
              <a:buNone/>
            </a:pPr>
            <a:r>
              <a:rPr lang="en-US" sz="1300" dirty="0">
                <a:solidFill>
                  <a:srgbClr val="44403C"/>
                </a:solidFill>
                <a:latin typeface="Calibri" pitchFamily="34" charset="0"/>
                <a:ea typeface="Calibri" pitchFamily="34" charset="-122"/>
                <a:cs typeface="Calibri" pitchFamily="34" charset="-120"/>
              </a:rPr>
              <a:t>Every hard operational fact — the things you could keep in a spreadsheet, but kept in a real database. Updated transactionally and audit-grade.</a:t>
            </a:r>
            <a:endParaRPr lang="en-US" sz="1300" dirty="0"/>
          </a:p>
        </p:txBody>
      </p:sp>
      <p:sp>
        <p:nvSpPr>
          <p:cNvPr id="10" name="Shape 7"/>
          <p:cNvSpPr/>
          <p:nvPr/>
        </p:nvSpPr>
        <p:spPr>
          <a:xfrm>
            <a:off x="457200" y="2697480"/>
            <a:ext cx="5212080" cy="2103120"/>
          </a:xfrm>
          <a:prstGeom prst="rect">
            <a:avLst/>
          </a:prstGeom>
          <a:solidFill>
            <a:srgbClr val="FFFFFF"/>
          </a:solidFill>
          <a:ln w="6350">
            <a:solidFill>
              <a:srgbClr val="E7E5E4"/>
            </a:solidFill>
            <a:prstDash val="solid"/>
          </a:ln>
          <a:effectLst>
            <a:outerShdw sx="100000" sy="100000" kx="0" ky="0" algn="bl" rotWithShape="0" blurRad="152400" dist="38100" dir="5400000">
              <a:srgbClr val="000000">
                <a:alpha val="8000"/>
              </a:srgbClr>
            </a:outerShdw>
          </a:effectLst>
        </p:spPr>
      </p:sp>
      <p:sp>
        <p:nvSpPr>
          <p:cNvPr id="11" name="Shape 8"/>
          <p:cNvSpPr/>
          <p:nvPr/>
        </p:nvSpPr>
        <p:spPr>
          <a:xfrm>
            <a:off x="457200" y="2697480"/>
            <a:ext cx="54864" cy="2103120"/>
          </a:xfrm>
          <a:prstGeom prst="rect">
            <a:avLst/>
          </a:prstGeom>
          <a:solidFill>
            <a:srgbClr val="0D9488"/>
          </a:solidFill>
          <a:ln/>
        </p:spPr>
      </p:sp>
      <p:sp>
        <p:nvSpPr>
          <p:cNvPr id="12" name="Text 9"/>
          <p:cNvSpPr/>
          <p:nvPr/>
        </p:nvSpPr>
        <p:spPr>
          <a:xfrm>
            <a:off x="685800" y="2816352"/>
            <a:ext cx="4846320" cy="228600"/>
          </a:xfrm>
          <a:prstGeom prst="rect">
            <a:avLst/>
          </a:prstGeom>
          <a:noFill/>
          <a:ln/>
        </p:spPr>
        <p:txBody>
          <a:bodyPr wrap="square" lIns="0" tIns="0" rIns="0" bIns="0" rtlCol="0" anchor="ctr"/>
          <a:lstStyle/>
          <a:p>
            <a:pPr indent="0" marL="0">
              <a:buNone/>
            </a:pPr>
            <a:r>
              <a:rPr lang="en-US" sz="900" b="1" spc="300" kern="0" dirty="0">
                <a:solidFill>
                  <a:srgbClr val="78716C"/>
                </a:solidFill>
                <a:latin typeface="Calibri" pitchFamily="34" charset="0"/>
                <a:ea typeface="Calibri" pitchFamily="34" charset="-122"/>
                <a:cs typeface="Calibri" pitchFamily="34" charset="-120"/>
              </a:rPr>
              <a:t>EXAMPLES</a:t>
            </a:r>
            <a:endParaRPr lang="en-US" sz="900" dirty="0"/>
          </a:p>
        </p:txBody>
      </p:sp>
      <p:sp>
        <p:nvSpPr>
          <p:cNvPr id="13" name="Text 10"/>
          <p:cNvSpPr/>
          <p:nvPr/>
        </p:nvSpPr>
        <p:spPr>
          <a:xfrm>
            <a:off x="777240" y="3063240"/>
            <a:ext cx="4754880" cy="169164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C1917"/>
                </a:solidFill>
                <a:latin typeface="Calibri" pitchFamily="34" charset="0"/>
                <a:ea typeface="Calibri" pitchFamily="34" charset="-122"/>
                <a:cs typeface="Calibri" pitchFamily="34" charset="-120"/>
              </a:rPr>
              <a:t>Properties + units — Zossener Str. 47, WE 4 left, 68 sqm, owner Wegener</a:t>
            </a:r>
            <a:endParaRPr lang="en-US" sz="1150" dirty="0"/>
          </a:p>
          <a:p>
            <a:pPr marL="342900" indent="-342900">
              <a:spcAft>
                <a:spcPts val="400"/>
              </a:spcAft>
              <a:buSzPct val="100000"/>
              <a:buChar char="●"/>
            </a:pPr>
            <a:r>
              <a:rPr lang="en-US" sz="1150" dirty="0">
                <a:solidFill>
                  <a:srgbClr val="1C1917"/>
                </a:solidFill>
                <a:latin typeface="Calibri" pitchFamily="34" charset="0"/>
                <a:ea typeface="Calibri" pitchFamily="34" charset="-122"/>
                <a:cs typeface="Calibri" pitchFamily="34" charset="-120"/>
              </a:rPr>
              <a:t>Tenants + leases — Frau Köhler, since 1997, 612 € cold rent, medical attestation in Anlage 3</a:t>
            </a:r>
            <a:endParaRPr lang="en-US" sz="1150" dirty="0"/>
          </a:p>
          <a:p>
            <a:pPr marL="342900" indent="-342900">
              <a:spcAft>
                <a:spcPts val="400"/>
              </a:spcAft>
              <a:buSzPct val="100000"/>
              <a:buChar char="●"/>
            </a:pPr>
            <a:r>
              <a:rPr lang="en-US" sz="1150" dirty="0">
                <a:solidFill>
                  <a:srgbClr val="1C1917"/>
                </a:solidFill>
                <a:latin typeface="Calibri" pitchFamily="34" charset="0"/>
                <a:ea typeface="Calibri" pitchFamily="34" charset="-122"/>
                <a:cs typeface="Calibri" pitchFamily="34" charset="-120"/>
              </a:rPr>
              <a:t>Tickets — every past case, dates, costs, vendor notes</a:t>
            </a:r>
            <a:endParaRPr lang="en-US" sz="1150" dirty="0"/>
          </a:p>
          <a:p>
            <a:pPr marL="342900" indent="-342900">
              <a:spcAft>
                <a:spcPts val="400"/>
              </a:spcAft>
              <a:buSzPct val="100000"/>
              <a:buChar char="●"/>
            </a:pPr>
            <a:r>
              <a:rPr lang="en-US" sz="1150" dirty="0">
                <a:solidFill>
                  <a:srgbClr val="1C1917"/>
                </a:solidFill>
                <a:latin typeface="Calibri" pitchFamily="34" charset="0"/>
                <a:ea typeface="Calibri" pitchFamily="34" charset="-122"/>
                <a:cs typeface="Calibri" pitchFamily="34" charset="-120"/>
              </a:rPr>
              <a:t>Invoices + open offers — Bergmann offer for 372 € pending since April</a:t>
            </a:r>
            <a:endParaRPr lang="en-US" sz="1150" dirty="0"/>
          </a:p>
          <a:p>
            <a:pPr marL="342900" indent="-342900">
              <a:spcAft>
                <a:spcPts val="400"/>
              </a:spcAft>
              <a:buSzPct val="100000"/>
              <a:buChar char="●"/>
            </a:pPr>
            <a:r>
              <a:rPr lang="en-US" sz="1150" dirty="0">
                <a:solidFill>
                  <a:srgbClr val="1C1917"/>
                </a:solidFill>
                <a:latin typeface="Calibri" pitchFamily="34" charset="0"/>
                <a:ea typeface="Calibri" pitchFamily="34" charset="-122"/>
                <a:cs typeface="Calibri" pitchFamily="34" charset="-120"/>
              </a:rPr>
              <a:t>Conversations — every WhatsApp, email, internal Slack thread</a:t>
            </a:r>
            <a:endParaRPr lang="en-US" sz="1150" dirty="0"/>
          </a:p>
        </p:txBody>
      </p:sp>
      <p:sp>
        <p:nvSpPr>
          <p:cNvPr id="14" name="Shape 11"/>
          <p:cNvSpPr/>
          <p:nvPr/>
        </p:nvSpPr>
        <p:spPr>
          <a:xfrm>
            <a:off x="5852160" y="2697480"/>
            <a:ext cx="2834640" cy="1371600"/>
          </a:xfrm>
          <a:prstGeom prst="rect">
            <a:avLst/>
          </a:prstGeom>
          <a:solidFill>
            <a:srgbClr val="F0FDFA"/>
          </a:solidFill>
          <a:ln w="6350">
            <a:solidFill>
              <a:srgbClr val="CCFBF1"/>
            </a:solidFill>
            <a:prstDash val="solid"/>
          </a:ln>
        </p:spPr>
      </p:sp>
      <p:pic>
        <p:nvPicPr>
          <p:cNvPr id="15" name="Image 1" descr="preencoded.png">    </p:cNvPr>
          <p:cNvPicPr>
            <a:picLocks noChangeAspect="1"/>
          </p:cNvPicPr>
          <p:nvPr/>
        </p:nvPicPr>
        <p:blipFill>
          <a:blip r:embed="rId2"/>
          <a:stretch>
            <a:fillRect/>
          </a:stretch>
        </p:blipFill>
        <p:spPr>
          <a:xfrm>
            <a:off x="5989320" y="2788920"/>
            <a:ext cx="201168" cy="201168"/>
          </a:xfrm>
          <a:prstGeom prst="rect">
            <a:avLst/>
          </a:prstGeom>
        </p:spPr>
      </p:pic>
      <p:sp>
        <p:nvSpPr>
          <p:cNvPr id="16" name="Text 12"/>
          <p:cNvSpPr/>
          <p:nvPr/>
        </p:nvSpPr>
        <p:spPr>
          <a:xfrm>
            <a:off x="5989320" y="3035808"/>
            <a:ext cx="2606040" cy="914400"/>
          </a:xfrm>
          <a:prstGeom prst="rect">
            <a:avLst/>
          </a:prstGeom>
          <a:noFill/>
          <a:ln/>
        </p:spPr>
        <p:txBody>
          <a:bodyPr wrap="square" lIns="0" tIns="0" rIns="0" bIns="0" rtlCol="0" anchor="ctr"/>
          <a:lstStyle/>
          <a:p>
            <a:pPr indent="0" marL="0">
              <a:lnSpc>
                <a:spcPct val="130000"/>
              </a:lnSpc>
              <a:buNone/>
            </a:pPr>
            <a:r>
              <a:rPr lang="en-US" sz="1200" i="1" dirty="0">
                <a:solidFill>
                  <a:srgbClr val="115E59"/>
                </a:solidFill>
                <a:latin typeface="Cambria" pitchFamily="34" charset="0"/>
                <a:ea typeface="Cambria" pitchFamily="34" charset="-122"/>
                <a:cs typeface="Cambria" pitchFamily="34" charset="-120"/>
              </a:rPr>
              <a:t>Opening a ticket instantly surfaces the tenant card, lease status, and full history. No tab-switching, no manual lookup.</a:t>
            </a:r>
            <a:endParaRPr lang="en-US" sz="1200" dirty="0"/>
          </a:p>
        </p:txBody>
      </p:sp>
      <p:sp>
        <p:nvSpPr>
          <p:cNvPr id="17" name="Text 13"/>
          <p:cNvSpPr/>
          <p:nvPr/>
        </p:nvSpPr>
        <p:spPr>
          <a:xfrm>
            <a:off x="5852160" y="4206240"/>
            <a:ext cx="2834640" cy="201168"/>
          </a:xfrm>
          <a:prstGeom prst="rect">
            <a:avLst/>
          </a:prstGeom>
          <a:noFill/>
          <a:ln/>
        </p:spPr>
        <p:txBody>
          <a:bodyPr wrap="square" lIns="0" tIns="0" rIns="0" bIns="0" rtlCol="0" anchor="ctr"/>
          <a:lstStyle/>
          <a:p>
            <a:pPr indent="0" marL="0">
              <a:buNone/>
            </a:pPr>
            <a:r>
              <a:rPr lang="en-US" sz="900" b="1" spc="300" kern="0" dirty="0">
                <a:solidFill>
                  <a:srgbClr val="78716C"/>
                </a:solidFill>
                <a:latin typeface="Calibri" pitchFamily="34" charset="0"/>
                <a:ea typeface="Calibri" pitchFamily="34" charset="-122"/>
                <a:cs typeface="Calibri" pitchFamily="34" charset="-120"/>
              </a:rPr>
              <a:t>UNDER THE HOOD</a:t>
            </a:r>
            <a:endParaRPr lang="en-US" sz="900" dirty="0"/>
          </a:p>
        </p:txBody>
      </p:sp>
      <p:sp>
        <p:nvSpPr>
          <p:cNvPr id="18" name="Text 14"/>
          <p:cNvSpPr/>
          <p:nvPr/>
        </p:nvSpPr>
        <p:spPr>
          <a:xfrm>
            <a:off x="5852160" y="4434840"/>
            <a:ext cx="2834640" cy="411480"/>
          </a:xfrm>
          <a:prstGeom prst="rect">
            <a:avLst/>
          </a:prstGeom>
          <a:noFill/>
          <a:ln/>
        </p:spPr>
        <p:txBody>
          <a:bodyPr wrap="square" lIns="0" tIns="0" rIns="0" bIns="0" rtlCol="0" anchor="ctr"/>
          <a:lstStyle/>
          <a:p>
            <a:pPr indent="0" marL="0">
              <a:lnSpc>
                <a:spcPct val="125000"/>
              </a:lnSpc>
              <a:buNone/>
            </a:pPr>
            <a:r>
              <a:rPr lang="en-US" sz="1050" i="1" dirty="0">
                <a:solidFill>
                  <a:srgbClr val="44403C"/>
                </a:solidFill>
                <a:latin typeface="Calibri" pitchFamily="34" charset="0"/>
                <a:ea typeface="Calibri" pitchFamily="34" charset="-122"/>
                <a:cs typeface="Calibri" pitchFamily="34" charset="-120"/>
              </a:rPr>
              <a:t>PostgreSQL with ~15 tables, isolated under the `theo` schema. Classic CRM/PMS structure.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7955280" y="365760"/>
            <a:ext cx="914400" cy="228600"/>
          </a:xfrm>
          <a:prstGeom prst="rect">
            <a:avLst/>
          </a:prstGeom>
          <a:noFill/>
          <a:ln/>
        </p:spPr>
        <p:txBody>
          <a:bodyPr wrap="square" lIns="0" tIns="0" rIns="0" bIns="0" rtlCol="0" anchor="ctr"/>
          <a:lstStyle/>
          <a:p>
            <a:pPr algn="r" indent="0" marL="0">
              <a:buNone/>
            </a:pPr>
            <a:r>
              <a:rPr lang="en-US" sz="900" b="1" spc="300" kern="0" dirty="0">
                <a:solidFill>
                  <a:srgbClr val="78716C"/>
                </a:solidFill>
                <a:latin typeface="Calibri" pitchFamily="34" charset="0"/>
                <a:ea typeface="Calibri" pitchFamily="34" charset="-122"/>
                <a:cs typeface="Calibri" pitchFamily="34" charset="-120"/>
              </a:rPr>
              <a:t>05</a:t>
            </a:r>
            <a:endParaRPr lang="en-US" sz="900" dirty="0"/>
          </a:p>
        </p:txBody>
      </p:sp>
      <p:sp>
        <p:nvSpPr>
          <p:cNvPr id="3" name="Text 1"/>
          <p:cNvSpPr/>
          <p:nvPr/>
        </p:nvSpPr>
        <p:spPr>
          <a:xfrm>
            <a:off x="457200" y="347472"/>
            <a:ext cx="8229600" cy="256032"/>
          </a:xfrm>
          <a:prstGeom prst="rect">
            <a:avLst/>
          </a:prstGeom>
          <a:noFill/>
          <a:ln/>
        </p:spPr>
        <p:txBody>
          <a:bodyPr wrap="square" lIns="0" tIns="0" rIns="0" bIns="0" rtlCol="0" anchor="ctr"/>
          <a:lstStyle/>
          <a:p>
            <a:pPr indent="0" marL="0">
              <a:buNone/>
            </a:pPr>
            <a:r>
              <a:rPr lang="en-US" sz="1100" b="1" spc="300" kern="0" dirty="0">
                <a:solidFill>
                  <a:srgbClr val="0D9488"/>
                </a:solidFill>
                <a:latin typeface="Calibri" pitchFamily="34" charset="0"/>
                <a:ea typeface="Calibri" pitchFamily="34" charset="-122"/>
                <a:cs typeface="Calibri" pitchFamily="34" charset="-120"/>
              </a:rPr>
              <a:t>STORE THREE · THE DIFFERENTIATOR</a:t>
            </a:r>
            <a:endParaRPr lang="en-US" sz="1100" dirty="0"/>
          </a:p>
        </p:txBody>
      </p:sp>
      <p:sp>
        <p:nvSpPr>
          <p:cNvPr id="4" name="Shape 2"/>
          <p:cNvSpPr/>
          <p:nvPr/>
        </p:nvSpPr>
        <p:spPr>
          <a:xfrm>
            <a:off x="457200" y="603504"/>
            <a:ext cx="640080" cy="640080"/>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594360" y="740664"/>
            <a:ext cx="365760" cy="365760"/>
          </a:xfrm>
          <a:prstGeom prst="rect">
            <a:avLst/>
          </a:prstGeom>
        </p:spPr>
      </p:pic>
      <p:sp>
        <p:nvSpPr>
          <p:cNvPr id="6" name="Text 3"/>
          <p:cNvSpPr/>
          <p:nvPr/>
        </p:nvSpPr>
        <p:spPr>
          <a:xfrm>
            <a:off x="1234440" y="603504"/>
            <a:ext cx="640080" cy="292608"/>
          </a:xfrm>
          <a:prstGeom prst="rect">
            <a:avLst/>
          </a:prstGeom>
          <a:noFill/>
          <a:ln/>
        </p:spPr>
        <p:txBody>
          <a:bodyPr wrap="square" lIns="0" tIns="0" rIns="0" bIns="0" rtlCol="0" anchor="ctr"/>
          <a:lstStyle/>
          <a:p>
            <a:pPr indent="0" marL="0">
              <a:buNone/>
            </a:pPr>
            <a:r>
              <a:rPr lang="en-US" sz="1100" b="1" spc="400" kern="0" dirty="0">
                <a:solidFill>
                  <a:srgbClr val="0D9488"/>
                </a:solidFill>
                <a:latin typeface="Calibri" pitchFamily="34" charset="0"/>
                <a:ea typeface="Calibri" pitchFamily="34" charset="-122"/>
                <a:cs typeface="Calibri" pitchFamily="34" charset="-120"/>
              </a:rPr>
              <a:t>L3</a:t>
            </a:r>
            <a:endParaRPr lang="en-US" sz="1100" dirty="0"/>
          </a:p>
        </p:txBody>
      </p:sp>
      <p:sp>
        <p:nvSpPr>
          <p:cNvPr id="7" name="Text 4"/>
          <p:cNvSpPr/>
          <p:nvPr/>
        </p:nvSpPr>
        <p:spPr>
          <a:xfrm>
            <a:off x="1234440" y="841248"/>
            <a:ext cx="7315200" cy="457200"/>
          </a:xfrm>
          <a:prstGeom prst="rect">
            <a:avLst/>
          </a:prstGeom>
          <a:noFill/>
          <a:ln/>
        </p:spPr>
        <p:txBody>
          <a:bodyPr wrap="square" lIns="0" tIns="0" rIns="0" bIns="0" rtlCol="0" anchor="ctr"/>
          <a:lstStyle/>
          <a:p>
            <a:pPr indent="0" marL="0">
              <a:buNone/>
            </a:pPr>
            <a:r>
              <a:rPr lang="en-US" sz="2800" i="1" dirty="0">
                <a:solidFill>
                  <a:srgbClr val="1C1917"/>
                </a:solidFill>
                <a:latin typeface="Cambria" pitchFamily="34" charset="0"/>
                <a:ea typeface="Cambria" pitchFamily="34" charset="-122"/>
                <a:cs typeface="Cambria" pitchFamily="34" charset="-120"/>
              </a:rPr>
              <a:t>The Memory</a:t>
            </a:r>
            <a:endParaRPr lang="en-US" sz="2800" dirty="0"/>
          </a:p>
        </p:txBody>
      </p:sp>
      <p:sp>
        <p:nvSpPr>
          <p:cNvPr id="8" name="Text 5"/>
          <p:cNvSpPr/>
          <p:nvPr/>
        </p:nvSpPr>
        <p:spPr>
          <a:xfrm>
            <a:off x="457200" y="1463040"/>
            <a:ext cx="8229600" cy="365760"/>
          </a:xfrm>
          <a:prstGeom prst="rect">
            <a:avLst/>
          </a:prstGeom>
          <a:noFill/>
          <a:ln/>
        </p:spPr>
        <p:txBody>
          <a:bodyPr wrap="square" lIns="0" tIns="0" rIns="0" bIns="0" rtlCol="0" anchor="ctr"/>
          <a:lstStyle/>
          <a:p>
            <a:pPr indent="0" marL="0">
              <a:buNone/>
            </a:pPr>
            <a:r>
              <a:rPr lang="en-US" sz="1600" i="1" dirty="0">
                <a:solidFill>
                  <a:srgbClr val="0D9488"/>
                </a:solidFill>
                <a:latin typeface="Cambria" pitchFamily="34" charset="0"/>
                <a:ea typeface="Cambria" pitchFamily="34" charset="-122"/>
                <a:cs typeface="Cambria" pitchFamily="34" charset="-120"/>
              </a:rPr>
              <a:t>"What have we learned about this person, this unit, this vendor?"</a:t>
            </a:r>
            <a:endParaRPr lang="en-US" sz="1600" dirty="0"/>
          </a:p>
        </p:txBody>
      </p:sp>
      <p:sp>
        <p:nvSpPr>
          <p:cNvPr id="9" name="Text 6"/>
          <p:cNvSpPr/>
          <p:nvPr/>
        </p:nvSpPr>
        <p:spPr>
          <a:xfrm>
            <a:off x="457200" y="1874520"/>
            <a:ext cx="8229600" cy="640080"/>
          </a:xfrm>
          <a:prstGeom prst="rect">
            <a:avLst/>
          </a:prstGeom>
          <a:noFill/>
          <a:ln/>
        </p:spPr>
        <p:txBody>
          <a:bodyPr wrap="square" lIns="0" tIns="0" rIns="0" bIns="0" rtlCol="0" anchor="ctr"/>
          <a:lstStyle/>
          <a:p>
            <a:pPr indent="0" marL="0">
              <a:lnSpc>
                <a:spcPct val="135000"/>
              </a:lnSpc>
              <a:buNone/>
            </a:pPr>
            <a:r>
              <a:rPr lang="en-US" sz="1300" dirty="0">
                <a:solidFill>
                  <a:srgbClr val="44403C"/>
                </a:solidFill>
                <a:latin typeface="Calibri" pitchFamily="34" charset="0"/>
                <a:ea typeface="Calibri" pitchFamily="34" charset="-122"/>
                <a:cs typeface="Calibri" pitchFamily="34" charset="-120"/>
              </a:rPr>
              <a:t>Not facts — learned patterns. Fletcher reads every conversation and ticket and extracts durable statements with validity periods and source citations. Nobody types these in; they emerge.</a:t>
            </a:r>
            <a:endParaRPr lang="en-US" sz="1300" dirty="0"/>
          </a:p>
        </p:txBody>
      </p:sp>
      <p:sp>
        <p:nvSpPr>
          <p:cNvPr id="10" name="Shape 7"/>
          <p:cNvSpPr/>
          <p:nvPr/>
        </p:nvSpPr>
        <p:spPr>
          <a:xfrm>
            <a:off x="457200" y="2697480"/>
            <a:ext cx="5212080" cy="2103120"/>
          </a:xfrm>
          <a:prstGeom prst="rect">
            <a:avLst/>
          </a:prstGeom>
          <a:solidFill>
            <a:srgbClr val="FFFFFF"/>
          </a:solidFill>
          <a:ln w="6350">
            <a:solidFill>
              <a:srgbClr val="E7E5E4"/>
            </a:solidFill>
            <a:prstDash val="solid"/>
          </a:ln>
          <a:effectLst>
            <a:outerShdw sx="100000" sy="100000" kx="0" ky="0" algn="bl" rotWithShape="0" blurRad="152400" dist="38100" dir="5400000">
              <a:srgbClr val="000000">
                <a:alpha val="8000"/>
              </a:srgbClr>
            </a:outerShdw>
          </a:effectLst>
        </p:spPr>
      </p:sp>
      <p:sp>
        <p:nvSpPr>
          <p:cNvPr id="11" name="Shape 8"/>
          <p:cNvSpPr/>
          <p:nvPr/>
        </p:nvSpPr>
        <p:spPr>
          <a:xfrm>
            <a:off x="457200" y="2697480"/>
            <a:ext cx="54864" cy="2103120"/>
          </a:xfrm>
          <a:prstGeom prst="rect">
            <a:avLst/>
          </a:prstGeom>
          <a:solidFill>
            <a:srgbClr val="0D9488"/>
          </a:solidFill>
          <a:ln/>
        </p:spPr>
      </p:sp>
      <p:sp>
        <p:nvSpPr>
          <p:cNvPr id="12" name="Text 9"/>
          <p:cNvSpPr/>
          <p:nvPr/>
        </p:nvSpPr>
        <p:spPr>
          <a:xfrm>
            <a:off x="685800" y="2816352"/>
            <a:ext cx="4846320" cy="228600"/>
          </a:xfrm>
          <a:prstGeom prst="rect">
            <a:avLst/>
          </a:prstGeom>
          <a:noFill/>
          <a:ln/>
        </p:spPr>
        <p:txBody>
          <a:bodyPr wrap="square" lIns="0" tIns="0" rIns="0" bIns="0" rtlCol="0" anchor="ctr"/>
          <a:lstStyle/>
          <a:p>
            <a:pPr indent="0" marL="0">
              <a:buNone/>
            </a:pPr>
            <a:r>
              <a:rPr lang="en-US" sz="900" b="1" spc="300" kern="0" dirty="0">
                <a:solidFill>
                  <a:srgbClr val="78716C"/>
                </a:solidFill>
                <a:latin typeface="Calibri" pitchFamily="34" charset="0"/>
                <a:ea typeface="Calibri" pitchFamily="34" charset="-122"/>
                <a:cs typeface="Calibri" pitchFamily="34" charset="-120"/>
              </a:rPr>
              <a:t>EXAMPLES</a:t>
            </a:r>
            <a:endParaRPr lang="en-US" sz="900" dirty="0"/>
          </a:p>
        </p:txBody>
      </p:sp>
      <p:sp>
        <p:nvSpPr>
          <p:cNvPr id="13" name="Text 10"/>
          <p:cNvSpPr/>
          <p:nvPr/>
        </p:nvSpPr>
        <p:spPr>
          <a:xfrm>
            <a:off x="777240" y="3063240"/>
            <a:ext cx="4754880" cy="169164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C1917"/>
                </a:solidFill>
                <a:latin typeface="Calibri" pitchFamily="34" charset="0"/>
                <a:ea typeface="Calibri" pitchFamily="34" charset="-122"/>
                <a:cs typeface="Calibri" pitchFamily="34" charset="-120"/>
              </a:rPr>
              <a:t>"Frau Köhler has heightened cold sensitivity after her hip surgery — valid since 18.05.2024."</a:t>
            </a:r>
            <a:endParaRPr lang="en-US" sz="1150" dirty="0"/>
          </a:p>
          <a:p>
            <a:pPr marL="342900" indent="-342900">
              <a:spcAft>
                <a:spcPts val="400"/>
              </a:spcAft>
              <a:buSzPct val="100000"/>
              <a:buChar char="●"/>
            </a:pPr>
            <a:r>
              <a:rPr lang="en-US" sz="1150" dirty="0">
                <a:solidFill>
                  <a:srgbClr val="1C1917"/>
                </a:solidFill>
                <a:latin typeface="Calibri" pitchFamily="34" charset="0"/>
                <a:ea typeface="Calibri" pitchFamily="34" charset="-122"/>
                <a:cs typeface="Calibri" pitchFamily="34" charset="-120"/>
              </a:rPr>
              <a:t>"The living-room radiator in WE 4 left has shown recurring failure for 18 months — same root cause (thermostat valve)."</a:t>
            </a:r>
            <a:endParaRPr lang="en-US" sz="1150" dirty="0"/>
          </a:p>
          <a:p>
            <a:pPr marL="342900" indent="-342900">
              <a:spcAft>
                <a:spcPts val="400"/>
              </a:spcAft>
              <a:buSzPct val="100000"/>
              <a:buChar char="●"/>
            </a:pPr>
            <a:r>
              <a:rPr lang="en-US" sz="1150" dirty="0">
                <a:solidFill>
                  <a:srgbClr val="1C1917"/>
                </a:solidFill>
                <a:latin typeface="Calibri" pitchFamily="34" charset="0"/>
                <a:ea typeface="Calibri" pitchFamily="34" charset="-122"/>
                <a:cs typeface="Calibri" pitchFamily="34" charset="-120"/>
              </a:rPr>
              <a:t>"Anja Köhler represents her mother Margarethe legally."</a:t>
            </a:r>
            <a:endParaRPr lang="en-US" sz="1150" dirty="0"/>
          </a:p>
          <a:p>
            <a:pPr marL="342900" indent="-342900">
              <a:spcAft>
                <a:spcPts val="400"/>
              </a:spcAft>
              <a:buSzPct val="100000"/>
              <a:buChar char="●"/>
            </a:pPr>
            <a:r>
              <a:rPr lang="en-US" sz="1150" dirty="0">
                <a:solidFill>
                  <a:srgbClr val="1C1917"/>
                </a:solidFill>
                <a:latin typeface="Calibri" pitchFamily="34" charset="0"/>
                <a:ea typeface="Calibri" pitchFamily="34" charset="-122"/>
                <a:cs typeface="Calibri" pitchFamily="34" charset="-120"/>
              </a:rPr>
              <a:t>"Bergmann submitted an offer in April 2025 — still unapproved after 7 months."</a:t>
            </a:r>
            <a:endParaRPr lang="en-US" sz="1150" dirty="0"/>
          </a:p>
        </p:txBody>
      </p:sp>
      <p:sp>
        <p:nvSpPr>
          <p:cNvPr id="14" name="Shape 11"/>
          <p:cNvSpPr/>
          <p:nvPr/>
        </p:nvSpPr>
        <p:spPr>
          <a:xfrm>
            <a:off x="5852160" y="2697480"/>
            <a:ext cx="2834640" cy="1371600"/>
          </a:xfrm>
          <a:prstGeom prst="rect">
            <a:avLst/>
          </a:prstGeom>
          <a:solidFill>
            <a:srgbClr val="F0FDFA"/>
          </a:solidFill>
          <a:ln w="6350">
            <a:solidFill>
              <a:srgbClr val="CCFBF1"/>
            </a:solidFill>
            <a:prstDash val="solid"/>
          </a:ln>
        </p:spPr>
      </p:sp>
      <p:pic>
        <p:nvPicPr>
          <p:cNvPr id="15" name="Image 1" descr="preencoded.png">    </p:cNvPr>
          <p:cNvPicPr>
            <a:picLocks noChangeAspect="1"/>
          </p:cNvPicPr>
          <p:nvPr/>
        </p:nvPicPr>
        <p:blipFill>
          <a:blip r:embed="rId2"/>
          <a:stretch>
            <a:fillRect/>
          </a:stretch>
        </p:blipFill>
        <p:spPr>
          <a:xfrm>
            <a:off x="5989320" y="2788920"/>
            <a:ext cx="201168" cy="201168"/>
          </a:xfrm>
          <a:prstGeom prst="rect">
            <a:avLst/>
          </a:prstGeom>
        </p:spPr>
      </p:pic>
      <p:sp>
        <p:nvSpPr>
          <p:cNvPr id="16" name="Text 12"/>
          <p:cNvSpPr/>
          <p:nvPr/>
        </p:nvSpPr>
        <p:spPr>
          <a:xfrm>
            <a:off x="5989320" y="3035808"/>
            <a:ext cx="2606040" cy="914400"/>
          </a:xfrm>
          <a:prstGeom prst="rect">
            <a:avLst/>
          </a:prstGeom>
          <a:noFill/>
          <a:ln/>
        </p:spPr>
        <p:txBody>
          <a:bodyPr wrap="square" lIns="0" tIns="0" rIns="0" bIns="0" rtlCol="0" anchor="ctr"/>
          <a:lstStyle/>
          <a:p>
            <a:pPr indent="0" marL="0">
              <a:lnSpc>
                <a:spcPct val="130000"/>
              </a:lnSpc>
              <a:buNone/>
            </a:pPr>
            <a:r>
              <a:rPr lang="en-US" sz="1200" i="1" dirty="0">
                <a:solidFill>
                  <a:srgbClr val="115E59"/>
                </a:solidFill>
                <a:latin typeface="Cambria" pitchFamily="34" charset="0"/>
                <a:ea typeface="Cambria" pitchFamily="34" charset="-122"/>
                <a:cs typeface="Cambria" pitchFamily="34" charset="-120"/>
              </a:rPr>
              <a:t>This is the contextual knowledge a 20-year property manager carries in their head — externalised, queryable, and never forgotten.</a:t>
            </a:r>
            <a:endParaRPr lang="en-US" sz="1200" dirty="0"/>
          </a:p>
        </p:txBody>
      </p:sp>
      <p:sp>
        <p:nvSpPr>
          <p:cNvPr id="17" name="Text 13"/>
          <p:cNvSpPr/>
          <p:nvPr/>
        </p:nvSpPr>
        <p:spPr>
          <a:xfrm>
            <a:off x="5852160" y="4206240"/>
            <a:ext cx="2834640" cy="201168"/>
          </a:xfrm>
          <a:prstGeom prst="rect">
            <a:avLst/>
          </a:prstGeom>
          <a:noFill/>
          <a:ln/>
        </p:spPr>
        <p:txBody>
          <a:bodyPr wrap="square" lIns="0" tIns="0" rIns="0" bIns="0" rtlCol="0" anchor="ctr"/>
          <a:lstStyle/>
          <a:p>
            <a:pPr indent="0" marL="0">
              <a:buNone/>
            </a:pPr>
            <a:r>
              <a:rPr lang="en-US" sz="900" b="1" spc="300" kern="0" dirty="0">
                <a:solidFill>
                  <a:srgbClr val="78716C"/>
                </a:solidFill>
                <a:latin typeface="Calibri" pitchFamily="34" charset="0"/>
                <a:ea typeface="Calibri" pitchFamily="34" charset="-122"/>
                <a:cs typeface="Calibri" pitchFamily="34" charset="-120"/>
              </a:rPr>
              <a:t>UNDER THE HOOD</a:t>
            </a:r>
            <a:endParaRPr lang="en-US" sz="900" dirty="0"/>
          </a:p>
        </p:txBody>
      </p:sp>
      <p:sp>
        <p:nvSpPr>
          <p:cNvPr id="18" name="Text 14"/>
          <p:cNvSpPr/>
          <p:nvPr/>
        </p:nvSpPr>
        <p:spPr>
          <a:xfrm>
            <a:off x="5852160" y="4434840"/>
            <a:ext cx="2834640" cy="411480"/>
          </a:xfrm>
          <a:prstGeom prst="rect">
            <a:avLst/>
          </a:prstGeom>
          <a:noFill/>
          <a:ln/>
        </p:spPr>
        <p:txBody>
          <a:bodyPr wrap="square" lIns="0" tIns="0" rIns="0" bIns="0" rtlCol="0" anchor="ctr"/>
          <a:lstStyle/>
          <a:p>
            <a:pPr indent="0" marL="0">
              <a:lnSpc>
                <a:spcPct val="125000"/>
              </a:lnSpc>
              <a:buNone/>
            </a:pPr>
            <a:r>
              <a:rPr lang="en-US" sz="1050" i="1" dirty="0">
                <a:solidFill>
                  <a:srgbClr val="44403C"/>
                </a:solidFill>
                <a:latin typeface="Calibri" pitchFamily="34" charset="0"/>
                <a:ea typeface="Calibri" pitchFamily="34" charset="-122"/>
                <a:cs typeface="Calibri" pitchFamily="34" charset="-120"/>
              </a:rPr>
              <a:t>Knowledge graph in Neo4j, continuously fed by Graphiti. Every claim is time-bounded and source-cited.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7955280" y="365760"/>
            <a:ext cx="914400" cy="228600"/>
          </a:xfrm>
          <a:prstGeom prst="rect">
            <a:avLst/>
          </a:prstGeom>
          <a:noFill/>
          <a:ln/>
        </p:spPr>
        <p:txBody>
          <a:bodyPr wrap="square" lIns="0" tIns="0" rIns="0" bIns="0" rtlCol="0" anchor="ctr"/>
          <a:lstStyle/>
          <a:p>
            <a:pPr algn="r" indent="0" marL="0">
              <a:buNone/>
            </a:pPr>
            <a:r>
              <a:rPr lang="en-US" sz="900" b="1" spc="300" kern="0" dirty="0">
                <a:solidFill>
                  <a:srgbClr val="78716C"/>
                </a:solidFill>
                <a:latin typeface="Calibri" pitchFamily="34" charset="0"/>
                <a:ea typeface="Calibri" pitchFamily="34" charset="-122"/>
                <a:cs typeface="Calibri" pitchFamily="34" charset="-120"/>
              </a:rPr>
              <a:t>06</a:t>
            </a:r>
            <a:endParaRPr lang="en-US" sz="900" dirty="0"/>
          </a:p>
        </p:txBody>
      </p:sp>
      <p:sp>
        <p:nvSpPr>
          <p:cNvPr id="3" name="Text 1"/>
          <p:cNvSpPr/>
          <p:nvPr/>
        </p:nvSpPr>
        <p:spPr>
          <a:xfrm>
            <a:off x="457200" y="347472"/>
            <a:ext cx="8229600" cy="256032"/>
          </a:xfrm>
          <a:prstGeom prst="rect">
            <a:avLst/>
          </a:prstGeom>
          <a:noFill/>
          <a:ln/>
        </p:spPr>
        <p:txBody>
          <a:bodyPr wrap="square" lIns="0" tIns="0" rIns="0" bIns="0" rtlCol="0" anchor="ctr"/>
          <a:lstStyle/>
          <a:p>
            <a:pPr indent="0" marL="0">
              <a:buNone/>
            </a:pPr>
            <a:r>
              <a:rPr lang="en-US" sz="1100" b="1" spc="300" kern="0" dirty="0">
                <a:solidFill>
                  <a:srgbClr val="0D9488"/>
                </a:solidFill>
                <a:latin typeface="Calibri" pitchFamily="34" charset="0"/>
                <a:ea typeface="Calibri" pitchFamily="34" charset="-122"/>
                <a:cs typeface="Calibri" pitchFamily="34" charset="-120"/>
              </a:rPr>
              <a:t>WORKED EXAMPLE</a:t>
            </a:r>
            <a:endParaRPr lang="en-US" sz="11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indent="0" marL="0">
              <a:buNone/>
            </a:pPr>
            <a:r>
              <a:rPr lang="en-US" sz="3000" i="1" dirty="0">
                <a:solidFill>
                  <a:srgbClr val="1C1917"/>
                </a:solidFill>
                <a:latin typeface="Cambria" pitchFamily="34" charset="0"/>
                <a:ea typeface="Cambria" pitchFamily="34" charset="-122"/>
                <a:cs typeface="Cambria" pitchFamily="34" charset="-120"/>
              </a:rPr>
              <a:t>How the three stores combine — in seconds.</a:t>
            </a:r>
            <a:endParaRPr lang="en-US" sz="3000" dirty="0"/>
          </a:p>
        </p:txBody>
      </p:sp>
      <p:sp>
        <p:nvSpPr>
          <p:cNvPr id="5" name="Shape 3"/>
          <p:cNvSpPr/>
          <p:nvPr/>
        </p:nvSpPr>
        <p:spPr>
          <a:xfrm>
            <a:off x="457200" y="1417320"/>
            <a:ext cx="3840480" cy="1005840"/>
          </a:xfrm>
          <a:prstGeom prst="rect">
            <a:avLst/>
          </a:prstGeom>
          <a:solidFill>
            <a:srgbClr val="DCFCE7"/>
          </a:solidFill>
          <a:ln/>
        </p:spPr>
      </p:sp>
      <p:sp>
        <p:nvSpPr>
          <p:cNvPr id="6" name="Text 4"/>
          <p:cNvSpPr/>
          <p:nvPr/>
        </p:nvSpPr>
        <p:spPr>
          <a:xfrm>
            <a:off x="640080" y="1508760"/>
            <a:ext cx="3566160" cy="228600"/>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MARGARETHE KÖHLER · WhatsApp · just now</a:t>
            </a:r>
            <a:endParaRPr lang="en-US" sz="900" dirty="0"/>
          </a:p>
        </p:txBody>
      </p:sp>
      <p:sp>
        <p:nvSpPr>
          <p:cNvPr id="7" name="Text 5"/>
          <p:cNvSpPr/>
          <p:nvPr/>
        </p:nvSpPr>
        <p:spPr>
          <a:xfrm>
            <a:off x="640080" y="1764792"/>
            <a:ext cx="3566160" cy="640080"/>
          </a:xfrm>
          <a:prstGeom prst="rect">
            <a:avLst/>
          </a:prstGeom>
          <a:noFill/>
          <a:ln/>
        </p:spPr>
        <p:txBody>
          <a:bodyPr wrap="square" lIns="0" tIns="0" rIns="0" bIns="0" rtlCol="0" anchor="ctr"/>
          <a:lstStyle/>
          <a:p>
            <a:pPr indent="0" marL="0">
              <a:buNone/>
            </a:pPr>
            <a:r>
              <a:rPr lang="en-US" sz="1400" i="1" dirty="0">
                <a:solidFill>
                  <a:srgbClr val="1C1917"/>
                </a:solidFill>
                <a:latin typeface="Cambria" pitchFamily="34" charset="0"/>
                <a:ea typeface="Cambria" pitchFamily="34" charset="-122"/>
                <a:cs typeface="Cambria" pitchFamily="34" charset="-120"/>
              </a:rPr>
              <a:t>"Die Heizung im Wohnzimmer geht schon wieder nicht."</a:t>
            </a:r>
            <a:endParaRPr lang="en-US" sz="1400" dirty="0"/>
          </a:p>
        </p:txBody>
      </p:sp>
      <p:pic>
        <p:nvPicPr>
          <p:cNvPr id="8" name="Image 0" descr="preencoded.png">    </p:cNvPr>
          <p:cNvPicPr>
            <a:picLocks noChangeAspect="1"/>
          </p:cNvPicPr>
          <p:nvPr/>
        </p:nvPicPr>
        <p:blipFill>
          <a:blip r:embed="rId1"/>
          <a:stretch>
            <a:fillRect/>
          </a:stretch>
        </p:blipFill>
        <p:spPr>
          <a:xfrm>
            <a:off x="4434840" y="1783080"/>
            <a:ext cx="274320" cy="274320"/>
          </a:xfrm>
          <a:prstGeom prst="rect">
            <a:avLst/>
          </a:prstGeom>
        </p:spPr>
      </p:pic>
      <p:sp>
        <p:nvSpPr>
          <p:cNvPr id="9" name="Text 6"/>
          <p:cNvSpPr/>
          <p:nvPr/>
        </p:nvSpPr>
        <p:spPr>
          <a:xfrm>
            <a:off x="4297680" y="2103120"/>
            <a:ext cx="640080" cy="228600"/>
          </a:xfrm>
          <a:prstGeom prst="rect">
            <a:avLst/>
          </a:prstGeom>
          <a:noFill/>
          <a:ln/>
        </p:spPr>
        <p:txBody>
          <a:bodyPr wrap="square" lIns="0" tIns="0" rIns="0" bIns="0" rtlCol="0" anchor="ctr"/>
          <a:lstStyle/>
          <a:p>
            <a:pPr algn="ctr" indent="0" marL="0">
              <a:buNone/>
            </a:pPr>
            <a:r>
              <a:rPr lang="en-US" sz="900" i="1" dirty="0">
                <a:solidFill>
                  <a:srgbClr val="78716C"/>
                </a:solidFill>
                <a:latin typeface="Calibri" pitchFamily="34" charset="0"/>
                <a:ea typeface="Calibri" pitchFamily="34" charset="-122"/>
                <a:cs typeface="Calibri" pitchFamily="34" charset="-120"/>
              </a:rPr>
              <a:t>within seconds</a:t>
            </a:r>
            <a:endParaRPr lang="en-US" sz="900" dirty="0"/>
          </a:p>
        </p:txBody>
      </p:sp>
      <p:sp>
        <p:nvSpPr>
          <p:cNvPr id="10" name="Shape 7"/>
          <p:cNvSpPr/>
          <p:nvPr/>
        </p:nvSpPr>
        <p:spPr>
          <a:xfrm>
            <a:off x="4937760" y="1490472"/>
            <a:ext cx="384048" cy="384048"/>
          </a:xfrm>
          <a:prstGeom prst="ellipse">
            <a:avLst/>
          </a:prstGeom>
          <a:solidFill>
            <a:srgbClr val="0D9488"/>
          </a:solidFill>
          <a:ln/>
        </p:spPr>
      </p:sp>
      <p:sp>
        <p:nvSpPr>
          <p:cNvPr id="11" name="Text 8"/>
          <p:cNvSpPr/>
          <p:nvPr/>
        </p:nvSpPr>
        <p:spPr>
          <a:xfrm>
            <a:off x="4937760" y="1472184"/>
            <a:ext cx="38404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2" name="Shape 9"/>
          <p:cNvSpPr/>
          <p:nvPr/>
        </p:nvSpPr>
        <p:spPr>
          <a:xfrm>
            <a:off x="5440680" y="1463040"/>
            <a:ext cx="292608" cy="201168"/>
          </a:xfrm>
          <a:prstGeom prst="rect">
            <a:avLst/>
          </a:prstGeom>
          <a:solidFill>
            <a:srgbClr val="CCFBF1"/>
          </a:solidFill>
          <a:ln/>
        </p:spPr>
      </p:sp>
      <p:sp>
        <p:nvSpPr>
          <p:cNvPr id="13" name="Text 10"/>
          <p:cNvSpPr/>
          <p:nvPr/>
        </p:nvSpPr>
        <p:spPr>
          <a:xfrm>
            <a:off x="5440680" y="1472184"/>
            <a:ext cx="292608" cy="201168"/>
          </a:xfrm>
          <a:prstGeom prst="rect">
            <a:avLst/>
          </a:prstGeom>
          <a:noFill/>
          <a:ln/>
        </p:spPr>
        <p:txBody>
          <a:bodyPr wrap="square" lIns="0" tIns="0" rIns="0" bIns="0" rtlCol="0" anchor="ctr"/>
          <a:lstStyle/>
          <a:p>
            <a:pPr algn="ctr" indent="0" marL="0">
              <a:buNone/>
            </a:pPr>
            <a:r>
              <a:rPr lang="en-US" sz="800" b="1" spc="200" kern="0" dirty="0">
                <a:solidFill>
                  <a:srgbClr val="115E59"/>
                </a:solidFill>
                <a:latin typeface="Calibri" pitchFamily="34" charset="0"/>
                <a:ea typeface="Calibri" pitchFamily="34" charset="-122"/>
                <a:cs typeface="Calibri" pitchFamily="34" charset="-120"/>
              </a:rPr>
              <a:t>L2</a:t>
            </a:r>
            <a:endParaRPr lang="en-US" sz="800" dirty="0"/>
          </a:p>
        </p:txBody>
      </p:sp>
      <p:sp>
        <p:nvSpPr>
          <p:cNvPr id="14" name="Text 11"/>
          <p:cNvSpPr/>
          <p:nvPr/>
        </p:nvSpPr>
        <p:spPr>
          <a:xfrm>
            <a:off x="5806440" y="1417320"/>
            <a:ext cx="2880360" cy="274320"/>
          </a:xfrm>
          <a:prstGeom prst="rect">
            <a:avLst/>
          </a:prstGeom>
          <a:noFill/>
          <a:ln/>
        </p:spPr>
        <p:txBody>
          <a:bodyPr wrap="square" lIns="0" tIns="0" rIns="0" bIns="0" rtlCol="0" anchor="ctr"/>
          <a:lstStyle/>
          <a:p>
            <a:pPr indent="0" marL="0">
              <a:buNone/>
            </a:pPr>
            <a:r>
              <a:rPr lang="en-US" sz="1100" b="1" dirty="0">
                <a:solidFill>
                  <a:srgbClr val="1C1917"/>
                </a:solidFill>
                <a:latin typeface="Calibri" pitchFamily="34" charset="0"/>
                <a:ea typeface="Calibri" pitchFamily="34" charset="-122"/>
                <a:cs typeface="Calibri" pitchFamily="34" charset="-120"/>
              </a:rPr>
              <a:t>Who is this phone number?</a:t>
            </a:r>
            <a:endParaRPr lang="en-US" sz="1100" dirty="0"/>
          </a:p>
        </p:txBody>
      </p:sp>
      <p:sp>
        <p:nvSpPr>
          <p:cNvPr id="15" name="Text 12"/>
          <p:cNvSpPr/>
          <p:nvPr/>
        </p:nvSpPr>
        <p:spPr>
          <a:xfrm>
            <a:off x="5806440" y="1709928"/>
            <a:ext cx="2880360" cy="457200"/>
          </a:xfrm>
          <a:prstGeom prst="rect">
            <a:avLst/>
          </a:prstGeom>
          <a:noFill/>
          <a:ln/>
        </p:spPr>
        <p:txBody>
          <a:bodyPr wrap="square" lIns="0" tIns="0" rIns="0" bIns="0" rtlCol="0" anchor="ctr"/>
          <a:lstStyle/>
          <a:p>
            <a:pPr indent="0" marL="0">
              <a:lnSpc>
                <a:spcPct val="120000"/>
              </a:lnSpc>
              <a:buNone/>
            </a:pPr>
            <a:r>
              <a:rPr lang="en-US" sz="1000" dirty="0">
                <a:solidFill>
                  <a:srgbClr val="44403C"/>
                </a:solidFill>
                <a:latin typeface="Calibri" pitchFamily="34" charset="0"/>
                <a:ea typeface="Calibri" pitchFamily="34" charset="-122"/>
                <a:cs typeface="Calibri" pitchFamily="34" charset="-120"/>
              </a:rPr>
              <a:t>Margarethe Köhler · WE 4 left · lease since 1997 · open Bergmann offer.</a:t>
            </a:r>
            <a:endParaRPr lang="en-US" sz="1000" dirty="0"/>
          </a:p>
        </p:txBody>
      </p:sp>
      <p:sp>
        <p:nvSpPr>
          <p:cNvPr id="16" name="Shape 13"/>
          <p:cNvSpPr/>
          <p:nvPr/>
        </p:nvSpPr>
        <p:spPr>
          <a:xfrm>
            <a:off x="4937760" y="2249424"/>
            <a:ext cx="384048" cy="384048"/>
          </a:xfrm>
          <a:prstGeom prst="ellipse">
            <a:avLst/>
          </a:prstGeom>
          <a:solidFill>
            <a:srgbClr val="0D9488"/>
          </a:solidFill>
          <a:ln/>
        </p:spPr>
      </p:sp>
      <p:sp>
        <p:nvSpPr>
          <p:cNvPr id="17" name="Text 14"/>
          <p:cNvSpPr/>
          <p:nvPr/>
        </p:nvSpPr>
        <p:spPr>
          <a:xfrm>
            <a:off x="4937760" y="2231136"/>
            <a:ext cx="38404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8" name="Shape 15"/>
          <p:cNvSpPr/>
          <p:nvPr/>
        </p:nvSpPr>
        <p:spPr>
          <a:xfrm>
            <a:off x="5440680" y="2221992"/>
            <a:ext cx="292608" cy="201168"/>
          </a:xfrm>
          <a:prstGeom prst="rect">
            <a:avLst/>
          </a:prstGeom>
          <a:solidFill>
            <a:srgbClr val="CCFBF1"/>
          </a:solidFill>
          <a:ln/>
        </p:spPr>
      </p:sp>
      <p:sp>
        <p:nvSpPr>
          <p:cNvPr id="19" name="Text 16"/>
          <p:cNvSpPr/>
          <p:nvPr/>
        </p:nvSpPr>
        <p:spPr>
          <a:xfrm>
            <a:off x="5440680" y="2231136"/>
            <a:ext cx="292608" cy="201168"/>
          </a:xfrm>
          <a:prstGeom prst="rect">
            <a:avLst/>
          </a:prstGeom>
          <a:noFill/>
          <a:ln/>
        </p:spPr>
        <p:txBody>
          <a:bodyPr wrap="square" lIns="0" tIns="0" rIns="0" bIns="0" rtlCol="0" anchor="ctr"/>
          <a:lstStyle/>
          <a:p>
            <a:pPr algn="ctr" indent="0" marL="0">
              <a:buNone/>
            </a:pPr>
            <a:r>
              <a:rPr lang="en-US" sz="800" b="1" spc="200" kern="0" dirty="0">
                <a:solidFill>
                  <a:srgbClr val="115E59"/>
                </a:solidFill>
                <a:latin typeface="Calibri" pitchFamily="34" charset="0"/>
                <a:ea typeface="Calibri" pitchFamily="34" charset="-122"/>
                <a:cs typeface="Calibri" pitchFamily="34" charset="-120"/>
              </a:rPr>
              <a:t>L3</a:t>
            </a:r>
            <a:endParaRPr lang="en-US" sz="800" dirty="0"/>
          </a:p>
        </p:txBody>
      </p:sp>
      <p:sp>
        <p:nvSpPr>
          <p:cNvPr id="20" name="Text 17"/>
          <p:cNvSpPr/>
          <p:nvPr/>
        </p:nvSpPr>
        <p:spPr>
          <a:xfrm>
            <a:off x="5806440" y="2176272"/>
            <a:ext cx="2880360" cy="274320"/>
          </a:xfrm>
          <a:prstGeom prst="rect">
            <a:avLst/>
          </a:prstGeom>
          <a:noFill/>
          <a:ln/>
        </p:spPr>
        <p:txBody>
          <a:bodyPr wrap="square" lIns="0" tIns="0" rIns="0" bIns="0" rtlCol="0" anchor="ctr"/>
          <a:lstStyle/>
          <a:p>
            <a:pPr indent="0" marL="0">
              <a:buNone/>
            </a:pPr>
            <a:r>
              <a:rPr lang="en-US" sz="1100" b="1" dirty="0">
                <a:solidFill>
                  <a:srgbClr val="1C1917"/>
                </a:solidFill>
                <a:latin typeface="Calibri" pitchFamily="34" charset="0"/>
                <a:ea typeface="Calibri" pitchFamily="34" charset="-122"/>
                <a:cs typeface="Calibri" pitchFamily="34" charset="-120"/>
              </a:rPr>
              <a:t>What do we know about her?</a:t>
            </a:r>
            <a:endParaRPr lang="en-US" sz="1100" dirty="0"/>
          </a:p>
        </p:txBody>
      </p:sp>
      <p:sp>
        <p:nvSpPr>
          <p:cNvPr id="21" name="Text 18"/>
          <p:cNvSpPr/>
          <p:nvPr/>
        </p:nvSpPr>
        <p:spPr>
          <a:xfrm>
            <a:off x="5806440" y="2468880"/>
            <a:ext cx="2880360" cy="457200"/>
          </a:xfrm>
          <a:prstGeom prst="rect">
            <a:avLst/>
          </a:prstGeom>
          <a:noFill/>
          <a:ln/>
        </p:spPr>
        <p:txBody>
          <a:bodyPr wrap="square" lIns="0" tIns="0" rIns="0" bIns="0" rtlCol="0" anchor="ctr"/>
          <a:lstStyle/>
          <a:p>
            <a:pPr indent="0" marL="0">
              <a:lnSpc>
                <a:spcPct val="120000"/>
              </a:lnSpc>
              <a:buNone/>
            </a:pPr>
            <a:r>
              <a:rPr lang="en-US" sz="1000" dirty="0">
                <a:solidFill>
                  <a:srgbClr val="44403C"/>
                </a:solidFill>
                <a:latin typeface="Calibri" pitchFamily="34" charset="0"/>
                <a:ea typeface="Calibri" pitchFamily="34" charset="-122"/>
                <a:cs typeface="Calibri" pitchFamily="34" charset="-120"/>
              </a:rPr>
              <a:t>5 prior heating cases · successful rent reduction in February · post-op cold sensitivity · daughter is a lawyer.</a:t>
            </a:r>
            <a:endParaRPr lang="en-US" sz="1000" dirty="0"/>
          </a:p>
        </p:txBody>
      </p:sp>
      <p:sp>
        <p:nvSpPr>
          <p:cNvPr id="22" name="Shape 19"/>
          <p:cNvSpPr/>
          <p:nvPr/>
        </p:nvSpPr>
        <p:spPr>
          <a:xfrm>
            <a:off x="4937760" y="3008376"/>
            <a:ext cx="384048" cy="384048"/>
          </a:xfrm>
          <a:prstGeom prst="ellipse">
            <a:avLst/>
          </a:prstGeom>
          <a:solidFill>
            <a:srgbClr val="0D9488"/>
          </a:solidFill>
          <a:ln/>
        </p:spPr>
      </p:sp>
      <p:sp>
        <p:nvSpPr>
          <p:cNvPr id="23" name="Text 20"/>
          <p:cNvSpPr/>
          <p:nvPr/>
        </p:nvSpPr>
        <p:spPr>
          <a:xfrm>
            <a:off x="4937760" y="2990088"/>
            <a:ext cx="38404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4" name="Shape 21"/>
          <p:cNvSpPr/>
          <p:nvPr/>
        </p:nvSpPr>
        <p:spPr>
          <a:xfrm>
            <a:off x="5440680" y="2980944"/>
            <a:ext cx="292608" cy="201168"/>
          </a:xfrm>
          <a:prstGeom prst="rect">
            <a:avLst/>
          </a:prstGeom>
          <a:solidFill>
            <a:srgbClr val="CCFBF1"/>
          </a:solidFill>
          <a:ln/>
        </p:spPr>
      </p:sp>
      <p:sp>
        <p:nvSpPr>
          <p:cNvPr id="25" name="Text 22"/>
          <p:cNvSpPr/>
          <p:nvPr/>
        </p:nvSpPr>
        <p:spPr>
          <a:xfrm>
            <a:off x="5440680" y="2990088"/>
            <a:ext cx="292608" cy="201168"/>
          </a:xfrm>
          <a:prstGeom prst="rect">
            <a:avLst/>
          </a:prstGeom>
          <a:noFill/>
          <a:ln/>
        </p:spPr>
        <p:txBody>
          <a:bodyPr wrap="square" lIns="0" tIns="0" rIns="0" bIns="0" rtlCol="0" anchor="ctr"/>
          <a:lstStyle/>
          <a:p>
            <a:pPr algn="ctr" indent="0" marL="0">
              <a:buNone/>
            </a:pPr>
            <a:r>
              <a:rPr lang="en-US" sz="800" b="1" spc="200" kern="0" dirty="0">
                <a:solidFill>
                  <a:srgbClr val="115E59"/>
                </a:solidFill>
                <a:latin typeface="Calibri" pitchFamily="34" charset="0"/>
                <a:ea typeface="Calibri" pitchFamily="34" charset="-122"/>
                <a:cs typeface="Calibri" pitchFamily="34" charset="-120"/>
              </a:rPr>
              <a:t>L1</a:t>
            </a:r>
            <a:endParaRPr lang="en-US" sz="800" dirty="0"/>
          </a:p>
        </p:txBody>
      </p:sp>
      <p:sp>
        <p:nvSpPr>
          <p:cNvPr id="26" name="Text 23"/>
          <p:cNvSpPr/>
          <p:nvPr/>
        </p:nvSpPr>
        <p:spPr>
          <a:xfrm>
            <a:off x="5806440" y="2935224"/>
            <a:ext cx="2880360" cy="274320"/>
          </a:xfrm>
          <a:prstGeom prst="rect">
            <a:avLst/>
          </a:prstGeom>
          <a:noFill/>
          <a:ln/>
        </p:spPr>
        <p:txBody>
          <a:bodyPr wrap="square" lIns="0" tIns="0" rIns="0" bIns="0" rtlCol="0" anchor="ctr"/>
          <a:lstStyle/>
          <a:p>
            <a:pPr indent="0" marL="0">
              <a:buNone/>
            </a:pPr>
            <a:r>
              <a:rPr lang="en-US" sz="1100" b="1" dirty="0">
                <a:solidFill>
                  <a:srgbClr val="1C1917"/>
                </a:solidFill>
                <a:latin typeface="Calibri" pitchFamily="34" charset="0"/>
                <a:ea typeface="Calibri" pitchFamily="34" charset="-122"/>
                <a:cs typeface="Calibri" pitchFamily="34" charset="-120"/>
              </a:rPr>
              <a:t>What does the law require?</a:t>
            </a:r>
            <a:endParaRPr lang="en-US" sz="1100" dirty="0"/>
          </a:p>
        </p:txBody>
      </p:sp>
      <p:sp>
        <p:nvSpPr>
          <p:cNvPr id="27" name="Text 24"/>
          <p:cNvSpPr/>
          <p:nvPr/>
        </p:nvSpPr>
        <p:spPr>
          <a:xfrm>
            <a:off x="5806440" y="3227832"/>
            <a:ext cx="2880360" cy="457200"/>
          </a:xfrm>
          <a:prstGeom prst="rect">
            <a:avLst/>
          </a:prstGeom>
          <a:noFill/>
          <a:ln/>
        </p:spPr>
        <p:txBody>
          <a:bodyPr wrap="square" lIns="0" tIns="0" rIns="0" bIns="0" rtlCol="0" anchor="ctr"/>
          <a:lstStyle/>
          <a:p>
            <a:pPr indent="0" marL="0">
              <a:lnSpc>
                <a:spcPct val="120000"/>
              </a:lnSpc>
              <a:buNone/>
            </a:pPr>
            <a:r>
              <a:rPr lang="en-US" sz="1000" dirty="0">
                <a:solidFill>
                  <a:srgbClr val="44403C"/>
                </a:solidFill>
                <a:latin typeface="Calibri" pitchFamily="34" charset="0"/>
                <a:ea typeface="Calibri" pitchFamily="34" charset="-122"/>
                <a:cs typeface="Calibri" pitchFamily="34" charset="-120"/>
              </a:rPr>
              <a:t>BGB § 535 · 4-hour response window during heating season.</a:t>
            </a:r>
            <a:endParaRPr lang="en-US" sz="1000" dirty="0"/>
          </a:p>
        </p:txBody>
      </p:sp>
      <p:sp>
        <p:nvSpPr>
          <p:cNvPr id="28" name="Shape 25"/>
          <p:cNvSpPr/>
          <p:nvPr/>
        </p:nvSpPr>
        <p:spPr>
          <a:xfrm>
            <a:off x="4937760" y="3767328"/>
            <a:ext cx="384048" cy="384048"/>
          </a:xfrm>
          <a:prstGeom prst="ellipse">
            <a:avLst/>
          </a:prstGeom>
          <a:solidFill>
            <a:srgbClr val="0D9488"/>
          </a:solidFill>
          <a:ln/>
        </p:spPr>
      </p:sp>
      <p:sp>
        <p:nvSpPr>
          <p:cNvPr id="29" name="Text 26"/>
          <p:cNvSpPr/>
          <p:nvPr/>
        </p:nvSpPr>
        <p:spPr>
          <a:xfrm>
            <a:off x="4937760" y="3749040"/>
            <a:ext cx="38404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0" name="Shape 27"/>
          <p:cNvSpPr/>
          <p:nvPr/>
        </p:nvSpPr>
        <p:spPr>
          <a:xfrm>
            <a:off x="5440680" y="3739896"/>
            <a:ext cx="292608" cy="201168"/>
          </a:xfrm>
          <a:prstGeom prst="rect">
            <a:avLst/>
          </a:prstGeom>
          <a:solidFill>
            <a:srgbClr val="CCFBF1"/>
          </a:solidFill>
          <a:ln/>
        </p:spPr>
      </p:sp>
      <p:sp>
        <p:nvSpPr>
          <p:cNvPr id="31" name="Text 28"/>
          <p:cNvSpPr/>
          <p:nvPr/>
        </p:nvSpPr>
        <p:spPr>
          <a:xfrm>
            <a:off x="5440680" y="3749040"/>
            <a:ext cx="292608" cy="201168"/>
          </a:xfrm>
          <a:prstGeom prst="rect">
            <a:avLst/>
          </a:prstGeom>
          <a:noFill/>
          <a:ln/>
        </p:spPr>
        <p:txBody>
          <a:bodyPr wrap="square" lIns="0" tIns="0" rIns="0" bIns="0" rtlCol="0" anchor="ctr"/>
          <a:lstStyle/>
          <a:p>
            <a:pPr algn="ctr" indent="0" marL="0">
              <a:buNone/>
            </a:pPr>
            <a:r>
              <a:rPr lang="en-US" sz="800" b="1" spc="200" kern="0" dirty="0">
                <a:solidFill>
                  <a:srgbClr val="115E59"/>
                </a:solidFill>
                <a:latin typeface="Calibri" pitchFamily="34" charset="0"/>
                <a:ea typeface="Calibri" pitchFamily="34" charset="-122"/>
                <a:cs typeface="Calibri" pitchFamily="34" charset="-120"/>
              </a:rPr>
              <a:t>L2</a:t>
            </a:r>
            <a:endParaRPr lang="en-US" sz="800" dirty="0"/>
          </a:p>
        </p:txBody>
      </p:sp>
      <p:sp>
        <p:nvSpPr>
          <p:cNvPr id="32" name="Text 29"/>
          <p:cNvSpPr/>
          <p:nvPr/>
        </p:nvSpPr>
        <p:spPr>
          <a:xfrm>
            <a:off x="5806440" y="3694176"/>
            <a:ext cx="2880360" cy="274320"/>
          </a:xfrm>
          <a:prstGeom prst="rect">
            <a:avLst/>
          </a:prstGeom>
          <a:noFill/>
          <a:ln/>
        </p:spPr>
        <p:txBody>
          <a:bodyPr wrap="square" lIns="0" tIns="0" rIns="0" bIns="0" rtlCol="0" anchor="ctr"/>
          <a:lstStyle/>
          <a:p>
            <a:pPr indent="0" marL="0">
              <a:buNone/>
            </a:pPr>
            <a:r>
              <a:rPr lang="en-US" sz="1100" b="1" dirty="0">
                <a:solidFill>
                  <a:srgbClr val="1C1917"/>
                </a:solidFill>
                <a:latin typeface="Calibri" pitchFamily="34" charset="0"/>
                <a:ea typeface="Calibri" pitchFamily="34" charset="-122"/>
                <a:cs typeface="Calibri" pitchFamily="34" charset="-120"/>
              </a:rPr>
              <a:t>Any internal pre-approvals?</a:t>
            </a:r>
            <a:endParaRPr lang="en-US" sz="1100" dirty="0"/>
          </a:p>
        </p:txBody>
      </p:sp>
      <p:sp>
        <p:nvSpPr>
          <p:cNvPr id="33" name="Text 30"/>
          <p:cNvSpPr/>
          <p:nvPr/>
        </p:nvSpPr>
        <p:spPr>
          <a:xfrm>
            <a:off x="5806440" y="3986784"/>
            <a:ext cx="2880360" cy="457200"/>
          </a:xfrm>
          <a:prstGeom prst="rect">
            <a:avLst/>
          </a:prstGeom>
          <a:noFill/>
          <a:ln/>
        </p:spPr>
        <p:txBody>
          <a:bodyPr wrap="square" lIns="0" tIns="0" rIns="0" bIns="0" rtlCol="0" anchor="ctr"/>
          <a:lstStyle/>
          <a:p>
            <a:pPr indent="0" marL="0">
              <a:lnSpc>
                <a:spcPct val="120000"/>
              </a:lnSpc>
              <a:buNone/>
            </a:pPr>
            <a:r>
              <a:rPr lang="en-US" sz="1000" dirty="0">
                <a:solidFill>
                  <a:srgbClr val="44403C"/>
                </a:solidFill>
                <a:latin typeface="Calibri" pitchFamily="34" charset="0"/>
                <a:ea typeface="Calibri" pitchFamily="34" charset="-122"/>
                <a:cs typeface="Calibri" pitchFamily="34" charset="-120"/>
              </a:rPr>
              <a:t>Yes — Jonas Petersen pre-approved 500 € last Friday.</a:t>
            </a:r>
            <a:endParaRPr lang="en-US" sz="1000" dirty="0"/>
          </a:p>
        </p:txBody>
      </p:sp>
      <p:sp>
        <p:nvSpPr>
          <p:cNvPr id="34" name="Shape 31"/>
          <p:cNvSpPr/>
          <p:nvPr/>
        </p:nvSpPr>
        <p:spPr>
          <a:xfrm>
            <a:off x="457200" y="4663440"/>
            <a:ext cx="3840480" cy="292608"/>
          </a:xfrm>
          <a:prstGeom prst="rect">
            <a:avLst/>
          </a:prstGeom>
          <a:solidFill>
            <a:srgbClr val="115E59"/>
          </a:solidFill>
          <a:ln/>
        </p:spPr>
      </p:sp>
      <p:sp>
        <p:nvSpPr>
          <p:cNvPr id="35" name="Text 32"/>
          <p:cNvSpPr/>
          <p:nvPr/>
        </p:nvSpPr>
        <p:spPr>
          <a:xfrm>
            <a:off x="457200" y="4663440"/>
            <a:ext cx="3840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One reply, fully cited. Drafted in ≈ 30s.</a:t>
            </a:r>
            <a:endParaRPr lang="en-US" sz="1100" dirty="0"/>
          </a:p>
        </p:txBody>
      </p:sp>
      <p:sp>
        <p:nvSpPr>
          <p:cNvPr id="36" name="Text 33"/>
          <p:cNvSpPr/>
          <p:nvPr/>
        </p:nvSpPr>
        <p:spPr>
          <a:xfrm>
            <a:off x="457200" y="4251960"/>
            <a:ext cx="3840480" cy="365760"/>
          </a:xfrm>
          <a:prstGeom prst="rect">
            <a:avLst/>
          </a:prstGeom>
          <a:noFill/>
          <a:ln/>
        </p:spPr>
        <p:txBody>
          <a:bodyPr wrap="square" lIns="0" tIns="0" rIns="0" bIns="0" rtlCol="0" anchor="ctr"/>
          <a:lstStyle/>
          <a:p>
            <a:pPr indent="0" marL="0">
              <a:lnSpc>
                <a:spcPct val="125000"/>
              </a:lnSpc>
              <a:buNone/>
            </a:pPr>
            <a:r>
              <a:rPr lang="en-US" sz="1100" i="1" dirty="0">
                <a:solidFill>
                  <a:srgbClr val="44403C"/>
                </a:solidFill>
                <a:latin typeface="Cambria" pitchFamily="34" charset="0"/>
                <a:ea typeface="Cambria" pitchFamily="34" charset="-122"/>
                <a:cs typeface="Cambria" pitchFamily="34" charset="-120"/>
              </a:rPr>
              <a:t>Every single claim in that reply traces back to a specific row, fact, or paragraph. No invention.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457200" y="347472"/>
            <a:ext cx="8229600" cy="256032"/>
          </a:xfrm>
          <a:prstGeom prst="rect">
            <a:avLst/>
          </a:prstGeom>
          <a:noFill/>
          <a:ln/>
        </p:spPr>
        <p:txBody>
          <a:bodyPr wrap="square" lIns="0" tIns="0" rIns="0" bIns="0" rtlCol="0" anchor="ctr"/>
          <a:lstStyle/>
          <a:p>
            <a:pPr indent="0" marL="0">
              <a:buNone/>
            </a:pPr>
            <a:r>
              <a:rPr lang="en-US" sz="1100" b="1" spc="300" kern="0" dirty="0">
                <a:solidFill>
                  <a:srgbClr val="0D9488"/>
                </a:solidFill>
                <a:latin typeface="Calibri" pitchFamily="34" charset="0"/>
                <a:ea typeface="Calibri" pitchFamily="34" charset="-122"/>
                <a:cs typeface="Calibri" pitchFamily="34" charset="-120"/>
              </a:rPr>
              <a:t>DESIGN PRINCIPLE</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indent="0" marL="0">
              <a:buNone/>
            </a:pPr>
            <a:r>
              <a:rPr lang="en-US" sz="3600" i="1" dirty="0">
                <a:solidFill>
                  <a:srgbClr val="1C1917"/>
                </a:solidFill>
                <a:latin typeface="Cambria" pitchFamily="34" charset="0"/>
                <a:ea typeface="Cambria" pitchFamily="34" charset="-122"/>
                <a:cs typeface="Cambria" pitchFamily="34" charset="-120"/>
              </a:rPr>
              <a:t>Why three stores, not one database.</a:t>
            </a:r>
            <a:endParaRPr lang="en-US" sz="3600" dirty="0"/>
          </a:p>
        </p:txBody>
      </p:sp>
      <p:sp>
        <p:nvSpPr>
          <p:cNvPr id="4" name="Text 2"/>
          <p:cNvSpPr/>
          <p:nvPr/>
        </p:nvSpPr>
        <p:spPr>
          <a:xfrm>
            <a:off x="7955280" y="365760"/>
            <a:ext cx="914400" cy="228600"/>
          </a:xfrm>
          <a:prstGeom prst="rect">
            <a:avLst/>
          </a:prstGeom>
          <a:noFill/>
          <a:ln/>
        </p:spPr>
        <p:txBody>
          <a:bodyPr wrap="square" lIns="0" tIns="0" rIns="0" bIns="0" rtlCol="0" anchor="ctr"/>
          <a:lstStyle/>
          <a:p>
            <a:pPr algn="r" indent="0" marL="0">
              <a:buNone/>
            </a:pPr>
            <a:r>
              <a:rPr lang="en-US" sz="900" b="1" spc="300" kern="0" dirty="0">
                <a:solidFill>
                  <a:srgbClr val="78716C"/>
                </a:solidFill>
                <a:latin typeface="Calibri" pitchFamily="34" charset="0"/>
                <a:ea typeface="Calibri" pitchFamily="34" charset="-122"/>
                <a:cs typeface="Calibri" pitchFamily="34" charset="-120"/>
              </a:rPr>
              <a:t>07</a:t>
            </a:r>
            <a:endParaRPr lang="en-US" sz="900" dirty="0"/>
          </a:p>
        </p:txBody>
      </p:sp>
      <p:sp>
        <p:nvSpPr>
          <p:cNvPr id="5" name="Text 3"/>
          <p:cNvSpPr/>
          <p:nvPr/>
        </p:nvSpPr>
        <p:spPr>
          <a:xfrm>
            <a:off x="457200" y="1417320"/>
            <a:ext cx="8229600" cy="640080"/>
          </a:xfrm>
          <a:prstGeom prst="rect">
            <a:avLst/>
          </a:prstGeom>
          <a:noFill/>
          <a:ln/>
        </p:spPr>
        <p:txBody>
          <a:bodyPr wrap="square" lIns="0" tIns="0" rIns="0" bIns="0" rtlCol="0" anchor="ctr"/>
          <a:lstStyle/>
          <a:p>
            <a:pPr indent="0" marL="0">
              <a:lnSpc>
                <a:spcPct val="135000"/>
              </a:lnSpc>
              <a:buNone/>
            </a:pPr>
            <a:r>
              <a:rPr lang="en-US" sz="1300" dirty="0">
                <a:solidFill>
                  <a:srgbClr val="44403C"/>
                </a:solidFill>
                <a:latin typeface="Calibri" pitchFamily="34" charset="0"/>
                <a:ea typeface="Calibri" pitchFamily="34" charset="-122"/>
                <a:cs typeface="Calibri" pitchFamily="34" charset="-120"/>
              </a:rPr>
              <a:t>Different questions need different shapes of memory. Forcing all three into one database would mean Fletcher would fail at one of them — usually whichever one a competitor isn't doing yet.</a:t>
            </a:r>
            <a:endParaRPr lang="en-US" sz="1300" dirty="0"/>
          </a:p>
        </p:txBody>
      </p:sp>
      <p:sp>
        <p:nvSpPr>
          <p:cNvPr id="6" name="Text 4"/>
          <p:cNvSpPr/>
          <p:nvPr/>
        </p:nvSpPr>
        <p:spPr>
          <a:xfrm>
            <a:off x="457200" y="2194560"/>
            <a:ext cx="777240" cy="292608"/>
          </a:xfrm>
          <a:prstGeom prst="rect">
            <a:avLst/>
          </a:prstGeom>
          <a:noFill/>
          <a:ln/>
        </p:spPr>
        <p:txBody>
          <a:bodyPr wrap="square" lIns="0" tIns="0" rIns="0" bIns="0" rtlCol="0" anchor="ctr"/>
          <a:lstStyle/>
          <a:p>
            <a:pPr indent="0" marL="0">
              <a:buNone/>
            </a:pPr>
            <a:r>
              <a:rPr lang="en-US" sz="900" b="1" spc="300" kern="0" dirty="0">
                <a:solidFill>
                  <a:srgbClr val="78716C"/>
                </a:solidFill>
                <a:latin typeface="Calibri" pitchFamily="34" charset="0"/>
                <a:ea typeface="Calibri" pitchFamily="34" charset="-122"/>
                <a:cs typeface="Calibri" pitchFamily="34" charset="-120"/>
              </a:rPr>
              <a:t>STORE</a:t>
            </a:r>
            <a:endParaRPr lang="en-US" sz="900" dirty="0"/>
          </a:p>
        </p:txBody>
      </p:sp>
      <p:sp>
        <p:nvSpPr>
          <p:cNvPr id="7" name="Text 5"/>
          <p:cNvSpPr/>
          <p:nvPr/>
        </p:nvSpPr>
        <p:spPr>
          <a:xfrm>
            <a:off x="1280160" y="2194560"/>
            <a:ext cx="1737360" cy="292608"/>
          </a:xfrm>
          <a:prstGeom prst="rect">
            <a:avLst/>
          </a:prstGeom>
          <a:noFill/>
          <a:ln/>
        </p:spPr>
        <p:txBody>
          <a:bodyPr wrap="square" lIns="0" tIns="0" rIns="0" bIns="0" rtlCol="0" anchor="ctr"/>
          <a:lstStyle/>
          <a:p>
            <a:pPr indent="0" marL="0">
              <a:buNone/>
            </a:pPr>
            <a:r>
              <a:rPr lang="en-US" sz="900" b="1" spc="300" kern="0" dirty="0">
                <a:solidFill>
                  <a:srgbClr val="78716C"/>
                </a:solidFill>
                <a:latin typeface="Calibri" pitchFamily="34" charset="0"/>
                <a:ea typeface="Calibri" pitchFamily="34" charset="-122"/>
                <a:cs typeface="Calibri" pitchFamily="34" charset="-120"/>
              </a:rPr>
              <a:t>QUESTION</a:t>
            </a:r>
            <a:endParaRPr lang="en-US" sz="900" dirty="0"/>
          </a:p>
        </p:txBody>
      </p:sp>
      <p:sp>
        <p:nvSpPr>
          <p:cNvPr id="8" name="Text 6"/>
          <p:cNvSpPr/>
          <p:nvPr/>
        </p:nvSpPr>
        <p:spPr>
          <a:xfrm>
            <a:off x="3108960" y="2194560"/>
            <a:ext cx="4023360" cy="292608"/>
          </a:xfrm>
          <a:prstGeom prst="rect">
            <a:avLst/>
          </a:prstGeom>
          <a:noFill/>
          <a:ln/>
        </p:spPr>
        <p:txBody>
          <a:bodyPr wrap="square" lIns="0" tIns="0" rIns="0" bIns="0" rtlCol="0" anchor="ctr"/>
          <a:lstStyle/>
          <a:p>
            <a:pPr indent="0" marL="0">
              <a:buNone/>
            </a:pPr>
            <a:r>
              <a:rPr lang="en-US" sz="900" b="1" spc="300" kern="0" dirty="0">
                <a:solidFill>
                  <a:srgbClr val="78716C"/>
                </a:solidFill>
                <a:latin typeface="Calibri" pitchFamily="34" charset="0"/>
                <a:ea typeface="Calibri" pitchFamily="34" charset="-122"/>
                <a:cs typeface="Calibri" pitchFamily="34" charset="-120"/>
              </a:rPr>
              <a:t>WHY ITS OWN STORE</a:t>
            </a:r>
            <a:endParaRPr lang="en-US" sz="900" dirty="0"/>
          </a:p>
        </p:txBody>
      </p:sp>
      <p:sp>
        <p:nvSpPr>
          <p:cNvPr id="9" name="Text 7"/>
          <p:cNvSpPr/>
          <p:nvPr/>
        </p:nvSpPr>
        <p:spPr>
          <a:xfrm>
            <a:off x="7223760" y="2194560"/>
            <a:ext cx="1554480" cy="292608"/>
          </a:xfrm>
          <a:prstGeom prst="rect">
            <a:avLst/>
          </a:prstGeom>
          <a:noFill/>
          <a:ln/>
        </p:spPr>
        <p:txBody>
          <a:bodyPr wrap="square" lIns="0" tIns="0" rIns="0" bIns="0" rtlCol="0" anchor="ctr"/>
          <a:lstStyle/>
          <a:p>
            <a:pPr indent="0" marL="0">
              <a:buNone/>
            </a:pPr>
            <a:r>
              <a:rPr lang="en-US" sz="900" b="1" spc="300" kern="0" dirty="0">
                <a:solidFill>
                  <a:srgbClr val="78716C"/>
                </a:solidFill>
                <a:latin typeface="Calibri" pitchFamily="34" charset="0"/>
                <a:ea typeface="Calibri" pitchFamily="34" charset="-122"/>
                <a:cs typeface="Calibri" pitchFamily="34" charset="-120"/>
              </a:rPr>
              <a:t>TECH</a:t>
            </a:r>
            <a:endParaRPr lang="en-US" sz="900" dirty="0"/>
          </a:p>
        </p:txBody>
      </p:sp>
      <p:sp>
        <p:nvSpPr>
          <p:cNvPr id="10" name="Shape 8"/>
          <p:cNvSpPr/>
          <p:nvPr/>
        </p:nvSpPr>
        <p:spPr>
          <a:xfrm>
            <a:off x="457200" y="2487168"/>
            <a:ext cx="8321040" cy="13716"/>
          </a:xfrm>
          <a:prstGeom prst="rect">
            <a:avLst/>
          </a:prstGeom>
          <a:solidFill>
            <a:srgbClr val="E7E5E4"/>
          </a:solidFill>
          <a:ln/>
        </p:spPr>
      </p:sp>
      <p:sp>
        <p:nvSpPr>
          <p:cNvPr id="11" name="Shape 9"/>
          <p:cNvSpPr/>
          <p:nvPr/>
        </p:nvSpPr>
        <p:spPr>
          <a:xfrm>
            <a:off x="457200" y="2788920"/>
            <a:ext cx="502920" cy="274320"/>
          </a:xfrm>
          <a:prstGeom prst="rect">
            <a:avLst/>
          </a:prstGeom>
          <a:solidFill>
            <a:srgbClr val="0D9488"/>
          </a:solidFill>
          <a:ln/>
        </p:spPr>
      </p:sp>
      <p:sp>
        <p:nvSpPr>
          <p:cNvPr id="12" name="Text 10"/>
          <p:cNvSpPr/>
          <p:nvPr/>
        </p:nvSpPr>
        <p:spPr>
          <a:xfrm>
            <a:off x="457200" y="2779776"/>
            <a:ext cx="502920"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L1</a:t>
            </a:r>
            <a:endParaRPr lang="en-US" sz="1100" dirty="0"/>
          </a:p>
        </p:txBody>
      </p:sp>
      <p:sp>
        <p:nvSpPr>
          <p:cNvPr id="13" name="Text 11"/>
          <p:cNvSpPr/>
          <p:nvPr/>
        </p:nvSpPr>
        <p:spPr>
          <a:xfrm>
            <a:off x="1280160" y="2770632"/>
            <a:ext cx="1737360" cy="457200"/>
          </a:xfrm>
          <a:prstGeom prst="rect">
            <a:avLst/>
          </a:prstGeom>
          <a:noFill/>
          <a:ln/>
        </p:spPr>
        <p:txBody>
          <a:bodyPr wrap="square" lIns="0" tIns="0" rIns="0" bIns="0" rtlCol="0" anchor="ctr"/>
          <a:lstStyle/>
          <a:p>
            <a:pPr indent="0" marL="0">
              <a:buNone/>
            </a:pPr>
            <a:r>
              <a:rPr lang="en-US" sz="1250" i="1" dirty="0">
                <a:solidFill>
                  <a:srgbClr val="1C1917"/>
                </a:solidFill>
                <a:latin typeface="Cambria" pitchFamily="34" charset="0"/>
                <a:ea typeface="Cambria" pitchFamily="34" charset="-122"/>
                <a:cs typeface="Cambria" pitchFamily="34" charset="-120"/>
              </a:rPr>
              <a:t>"What applies?"</a:t>
            </a:r>
            <a:endParaRPr lang="en-US" sz="1250" dirty="0"/>
          </a:p>
        </p:txBody>
      </p:sp>
      <p:sp>
        <p:nvSpPr>
          <p:cNvPr id="14" name="Text 12"/>
          <p:cNvSpPr/>
          <p:nvPr/>
        </p:nvSpPr>
        <p:spPr>
          <a:xfrm>
            <a:off x="3108960" y="2770632"/>
            <a:ext cx="4023360" cy="457200"/>
          </a:xfrm>
          <a:prstGeom prst="rect">
            <a:avLst/>
          </a:prstGeom>
          <a:noFill/>
          <a:ln/>
        </p:spPr>
        <p:txBody>
          <a:bodyPr wrap="square" lIns="0" tIns="0" rIns="0" bIns="0" rtlCol="0" anchor="ctr"/>
          <a:lstStyle/>
          <a:p>
            <a:pPr indent="0" marL="0">
              <a:lnSpc>
                <a:spcPct val="125000"/>
              </a:lnSpc>
              <a:buNone/>
            </a:pPr>
            <a:r>
              <a:rPr lang="en-US" sz="1100" dirty="0">
                <a:solidFill>
                  <a:srgbClr val="44403C"/>
                </a:solidFill>
                <a:latin typeface="Calibri" pitchFamily="34" charset="0"/>
                <a:ea typeface="Calibri" pitchFamily="34" charset="-122"/>
                <a:cs typeface="Calibri" pitchFamily="34" charset="-120"/>
              </a:rPr>
              <a:t>Rarely written, often read. Versioned like a book.</a:t>
            </a:r>
            <a:endParaRPr lang="en-US" sz="1100" dirty="0"/>
          </a:p>
        </p:txBody>
      </p:sp>
      <p:sp>
        <p:nvSpPr>
          <p:cNvPr id="15" name="Text 13"/>
          <p:cNvSpPr/>
          <p:nvPr/>
        </p:nvSpPr>
        <p:spPr>
          <a:xfrm>
            <a:off x="7223760" y="2770632"/>
            <a:ext cx="1554480" cy="457200"/>
          </a:xfrm>
          <a:prstGeom prst="rect">
            <a:avLst/>
          </a:prstGeom>
          <a:noFill/>
          <a:ln/>
        </p:spPr>
        <p:txBody>
          <a:bodyPr wrap="square" lIns="0" tIns="0" rIns="0" bIns="0" rtlCol="0" anchor="ctr"/>
          <a:lstStyle/>
          <a:p>
            <a:pPr indent="0" marL="0">
              <a:buNone/>
            </a:pPr>
            <a:r>
              <a:rPr lang="en-US" sz="1100" b="1" dirty="0">
                <a:solidFill>
                  <a:srgbClr val="115E59"/>
                </a:solidFill>
                <a:latin typeface="Calibri" pitchFamily="34" charset="0"/>
                <a:ea typeface="Calibri" pitchFamily="34" charset="-122"/>
                <a:cs typeface="Calibri" pitchFamily="34" charset="-120"/>
              </a:rPr>
              <a:t>Markdown + BM25</a:t>
            </a:r>
            <a:endParaRPr lang="en-US" sz="1100" dirty="0"/>
          </a:p>
        </p:txBody>
      </p:sp>
      <p:sp>
        <p:nvSpPr>
          <p:cNvPr id="16" name="Shape 14"/>
          <p:cNvSpPr/>
          <p:nvPr/>
        </p:nvSpPr>
        <p:spPr>
          <a:xfrm>
            <a:off x="457200" y="3264408"/>
            <a:ext cx="8321040" cy="658368"/>
          </a:xfrm>
          <a:prstGeom prst="rect">
            <a:avLst/>
          </a:prstGeom>
          <a:solidFill>
            <a:srgbClr val="FAFAF9"/>
          </a:solidFill>
          <a:ln/>
        </p:spPr>
      </p:sp>
      <p:sp>
        <p:nvSpPr>
          <p:cNvPr id="17" name="Shape 15"/>
          <p:cNvSpPr/>
          <p:nvPr/>
        </p:nvSpPr>
        <p:spPr>
          <a:xfrm>
            <a:off x="457200" y="3447288"/>
            <a:ext cx="502920" cy="274320"/>
          </a:xfrm>
          <a:prstGeom prst="rect">
            <a:avLst/>
          </a:prstGeom>
          <a:solidFill>
            <a:srgbClr val="0D9488"/>
          </a:solidFill>
          <a:ln/>
        </p:spPr>
      </p:sp>
      <p:sp>
        <p:nvSpPr>
          <p:cNvPr id="18" name="Text 16"/>
          <p:cNvSpPr/>
          <p:nvPr/>
        </p:nvSpPr>
        <p:spPr>
          <a:xfrm>
            <a:off x="457200" y="3438144"/>
            <a:ext cx="502920"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L2</a:t>
            </a:r>
            <a:endParaRPr lang="en-US" sz="1100" dirty="0"/>
          </a:p>
        </p:txBody>
      </p:sp>
      <p:sp>
        <p:nvSpPr>
          <p:cNvPr id="19" name="Text 17"/>
          <p:cNvSpPr/>
          <p:nvPr/>
        </p:nvSpPr>
        <p:spPr>
          <a:xfrm>
            <a:off x="1280160" y="3429000"/>
            <a:ext cx="1737360" cy="457200"/>
          </a:xfrm>
          <a:prstGeom prst="rect">
            <a:avLst/>
          </a:prstGeom>
          <a:noFill/>
          <a:ln/>
        </p:spPr>
        <p:txBody>
          <a:bodyPr wrap="square" lIns="0" tIns="0" rIns="0" bIns="0" rtlCol="0" anchor="ctr"/>
          <a:lstStyle/>
          <a:p>
            <a:pPr indent="0" marL="0">
              <a:buNone/>
            </a:pPr>
            <a:r>
              <a:rPr lang="en-US" sz="1250" i="1" dirty="0">
                <a:solidFill>
                  <a:srgbClr val="1C1917"/>
                </a:solidFill>
                <a:latin typeface="Cambria" pitchFamily="34" charset="0"/>
                <a:ea typeface="Cambria" pitchFamily="34" charset="-122"/>
                <a:cs typeface="Cambria" pitchFamily="34" charset="-120"/>
              </a:rPr>
              <a:t>"What is true now?"</a:t>
            </a:r>
            <a:endParaRPr lang="en-US" sz="1250" dirty="0"/>
          </a:p>
        </p:txBody>
      </p:sp>
      <p:sp>
        <p:nvSpPr>
          <p:cNvPr id="20" name="Text 18"/>
          <p:cNvSpPr/>
          <p:nvPr/>
        </p:nvSpPr>
        <p:spPr>
          <a:xfrm>
            <a:off x="3108960" y="3429000"/>
            <a:ext cx="4023360" cy="457200"/>
          </a:xfrm>
          <a:prstGeom prst="rect">
            <a:avLst/>
          </a:prstGeom>
          <a:noFill/>
          <a:ln/>
        </p:spPr>
        <p:txBody>
          <a:bodyPr wrap="square" lIns="0" tIns="0" rIns="0" bIns="0" rtlCol="0" anchor="ctr"/>
          <a:lstStyle/>
          <a:p>
            <a:pPr indent="0" marL="0">
              <a:lnSpc>
                <a:spcPct val="125000"/>
              </a:lnSpc>
              <a:buNone/>
            </a:pPr>
            <a:r>
              <a:rPr lang="en-US" sz="1100" dirty="0">
                <a:solidFill>
                  <a:srgbClr val="44403C"/>
                </a:solidFill>
                <a:latin typeface="Calibri" pitchFamily="34" charset="0"/>
                <a:ea typeface="Calibri" pitchFamily="34" charset="-122"/>
                <a:cs typeface="Calibri" pitchFamily="34" charset="-120"/>
              </a:rPr>
              <a:t>Must be exact, transactional, auditable. A relational database.</a:t>
            </a:r>
            <a:endParaRPr lang="en-US" sz="1100" dirty="0"/>
          </a:p>
        </p:txBody>
      </p:sp>
      <p:sp>
        <p:nvSpPr>
          <p:cNvPr id="21" name="Text 19"/>
          <p:cNvSpPr/>
          <p:nvPr/>
        </p:nvSpPr>
        <p:spPr>
          <a:xfrm>
            <a:off x="7223760" y="3429000"/>
            <a:ext cx="1554480" cy="457200"/>
          </a:xfrm>
          <a:prstGeom prst="rect">
            <a:avLst/>
          </a:prstGeom>
          <a:noFill/>
          <a:ln/>
        </p:spPr>
        <p:txBody>
          <a:bodyPr wrap="square" lIns="0" tIns="0" rIns="0" bIns="0" rtlCol="0" anchor="ctr"/>
          <a:lstStyle/>
          <a:p>
            <a:pPr indent="0" marL="0">
              <a:buNone/>
            </a:pPr>
            <a:r>
              <a:rPr lang="en-US" sz="1100" b="1" dirty="0">
                <a:solidFill>
                  <a:srgbClr val="115E59"/>
                </a:solidFill>
                <a:latin typeface="Calibri" pitchFamily="34" charset="0"/>
                <a:ea typeface="Calibri" pitchFamily="34" charset="-122"/>
                <a:cs typeface="Calibri" pitchFamily="34" charset="-120"/>
              </a:rPr>
              <a:t>PostgreSQL</a:t>
            </a:r>
            <a:endParaRPr lang="en-US" sz="1100" dirty="0"/>
          </a:p>
        </p:txBody>
      </p:sp>
      <p:sp>
        <p:nvSpPr>
          <p:cNvPr id="22" name="Shape 20"/>
          <p:cNvSpPr/>
          <p:nvPr/>
        </p:nvSpPr>
        <p:spPr>
          <a:xfrm>
            <a:off x="457200" y="4105656"/>
            <a:ext cx="502920" cy="274320"/>
          </a:xfrm>
          <a:prstGeom prst="rect">
            <a:avLst/>
          </a:prstGeom>
          <a:solidFill>
            <a:srgbClr val="0D9488"/>
          </a:solidFill>
          <a:ln/>
        </p:spPr>
      </p:sp>
      <p:sp>
        <p:nvSpPr>
          <p:cNvPr id="23" name="Text 21"/>
          <p:cNvSpPr/>
          <p:nvPr/>
        </p:nvSpPr>
        <p:spPr>
          <a:xfrm>
            <a:off x="457200" y="4096512"/>
            <a:ext cx="502920"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L3</a:t>
            </a:r>
            <a:endParaRPr lang="en-US" sz="1100" dirty="0"/>
          </a:p>
        </p:txBody>
      </p:sp>
      <p:sp>
        <p:nvSpPr>
          <p:cNvPr id="24" name="Text 22"/>
          <p:cNvSpPr/>
          <p:nvPr/>
        </p:nvSpPr>
        <p:spPr>
          <a:xfrm>
            <a:off x="1280160" y="4087368"/>
            <a:ext cx="1737360" cy="457200"/>
          </a:xfrm>
          <a:prstGeom prst="rect">
            <a:avLst/>
          </a:prstGeom>
          <a:noFill/>
          <a:ln/>
        </p:spPr>
        <p:txBody>
          <a:bodyPr wrap="square" lIns="0" tIns="0" rIns="0" bIns="0" rtlCol="0" anchor="ctr"/>
          <a:lstStyle/>
          <a:p>
            <a:pPr indent="0" marL="0">
              <a:buNone/>
            </a:pPr>
            <a:r>
              <a:rPr lang="en-US" sz="1250" i="1" dirty="0">
                <a:solidFill>
                  <a:srgbClr val="1C1917"/>
                </a:solidFill>
                <a:latin typeface="Cambria" pitchFamily="34" charset="0"/>
                <a:ea typeface="Cambria" pitchFamily="34" charset="-122"/>
                <a:cs typeface="Cambria" pitchFamily="34" charset="-120"/>
              </a:rPr>
              <a:t>"What did we learn?"</a:t>
            </a:r>
            <a:endParaRPr lang="en-US" sz="1250" dirty="0"/>
          </a:p>
        </p:txBody>
      </p:sp>
      <p:sp>
        <p:nvSpPr>
          <p:cNvPr id="25" name="Text 23"/>
          <p:cNvSpPr/>
          <p:nvPr/>
        </p:nvSpPr>
        <p:spPr>
          <a:xfrm>
            <a:off x="3108960" y="4087368"/>
            <a:ext cx="4023360" cy="457200"/>
          </a:xfrm>
          <a:prstGeom prst="rect">
            <a:avLst/>
          </a:prstGeom>
          <a:noFill/>
          <a:ln/>
        </p:spPr>
        <p:txBody>
          <a:bodyPr wrap="square" lIns="0" tIns="0" rIns="0" bIns="0" rtlCol="0" anchor="ctr"/>
          <a:lstStyle/>
          <a:p>
            <a:pPr indent="0" marL="0">
              <a:lnSpc>
                <a:spcPct val="125000"/>
              </a:lnSpc>
              <a:buNone/>
            </a:pPr>
            <a:r>
              <a:rPr lang="en-US" sz="1100" dirty="0">
                <a:solidFill>
                  <a:srgbClr val="44403C"/>
                </a:solidFill>
                <a:latin typeface="Calibri" pitchFamily="34" charset="0"/>
                <a:ea typeface="Calibri" pitchFamily="34" charset="-122"/>
                <a:cs typeface="Calibri" pitchFamily="34" charset="-120"/>
              </a:rPr>
              <a:t>Must surface patterns across time. A graph database.</a:t>
            </a:r>
            <a:endParaRPr lang="en-US" sz="1100" dirty="0"/>
          </a:p>
        </p:txBody>
      </p:sp>
      <p:sp>
        <p:nvSpPr>
          <p:cNvPr id="26" name="Text 24"/>
          <p:cNvSpPr/>
          <p:nvPr/>
        </p:nvSpPr>
        <p:spPr>
          <a:xfrm>
            <a:off x="7223760" y="4087368"/>
            <a:ext cx="1554480" cy="457200"/>
          </a:xfrm>
          <a:prstGeom prst="rect">
            <a:avLst/>
          </a:prstGeom>
          <a:noFill/>
          <a:ln/>
        </p:spPr>
        <p:txBody>
          <a:bodyPr wrap="square" lIns="0" tIns="0" rIns="0" bIns="0" rtlCol="0" anchor="ctr"/>
          <a:lstStyle/>
          <a:p>
            <a:pPr indent="0" marL="0">
              <a:buNone/>
            </a:pPr>
            <a:r>
              <a:rPr lang="en-US" sz="1100" b="1" dirty="0">
                <a:solidFill>
                  <a:srgbClr val="115E59"/>
                </a:solidFill>
                <a:latin typeface="Calibri" pitchFamily="34" charset="0"/>
                <a:ea typeface="Calibri" pitchFamily="34" charset="-122"/>
                <a:cs typeface="Calibri" pitchFamily="34" charset="-120"/>
              </a:rPr>
              <a:t>Neo4j + Graphiti</a:t>
            </a:r>
            <a:endParaRPr lang="en-US" sz="1100" dirty="0"/>
          </a:p>
        </p:txBody>
      </p:sp>
      <p:sp>
        <p:nvSpPr>
          <p:cNvPr id="27" name="Text 25"/>
          <p:cNvSpPr/>
          <p:nvPr/>
        </p:nvSpPr>
        <p:spPr>
          <a:xfrm>
            <a:off x="457200" y="4754880"/>
            <a:ext cx="8229600" cy="320040"/>
          </a:xfrm>
          <a:prstGeom prst="rect">
            <a:avLst/>
          </a:prstGeom>
          <a:noFill/>
          <a:ln/>
        </p:spPr>
        <p:txBody>
          <a:bodyPr wrap="square" lIns="0" tIns="0" rIns="0" bIns="0" rtlCol="0" anchor="ctr"/>
          <a:lstStyle/>
          <a:p>
            <a:pPr algn="ctr" indent="0" marL="0">
              <a:buNone/>
            </a:pPr>
            <a:r>
              <a:rPr lang="en-US" sz="1300" i="1" dirty="0">
                <a:solidFill>
                  <a:srgbClr val="0D9488"/>
                </a:solidFill>
                <a:latin typeface="Cambria" pitchFamily="34" charset="0"/>
                <a:ea typeface="Cambria" pitchFamily="34" charset="-122"/>
                <a:cs typeface="Cambria" pitchFamily="34" charset="-120"/>
              </a:rPr>
              <a:t>Each store does exactly what it was built for. None of them imitate the others.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457200" y="347472"/>
            <a:ext cx="8229600" cy="256032"/>
          </a:xfrm>
          <a:prstGeom prst="rect">
            <a:avLst/>
          </a:prstGeom>
          <a:noFill/>
          <a:ln/>
        </p:spPr>
        <p:txBody>
          <a:bodyPr wrap="square" lIns="0" tIns="0" rIns="0" bIns="0" rtlCol="0" anchor="ctr"/>
          <a:lstStyle/>
          <a:p>
            <a:pPr indent="0" marL="0">
              <a:buNone/>
            </a:pPr>
            <a:r>
              <a:rPr lang="en-US" sz="1100" b="1" spc="300" kern="0" dirty="0">
                <a:solidFill>
                  <a:srgbClr val="0D9488"/>
                </a:solidFill>
                <a:latin typeface="Calibri" pitchFamily="34" charset="0"/>
                <a:ea typeface="Calibri" pitchFamily="34" charset="-122"/>
                <a:cs typeface="Calibri" pitchFamily="34" charset="-120"/>
              </a:rPr>
              <a:t>TRUST</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indent="0" marL="0">
              <a:buNone/>
            </a:pPr>
            <a:r>
              <a:rPr lang="en-US" sz="3600" i="1" dirty="0">
                <a:solidFill>
                  <a:srgbClr val="1C1917"/>
                </a:solidFill>
                <a:latin typeface="Cambria" pitchFamily="34" charset="0"/>
                <a:ea typeface="Cambria" pitchFamily="34" charset="-122"/>
                <a:cs typeface="Cambria" pitchFamily="34" charset="-120"/>
              </a:rPr>
              <a:t>Privacy and control, by design.</a:t>
            </a:r>
            <a:endParaRPr lang="en-US" sz="3600" dirty="0"/>
          </a:p>
        </p:txBody>
      </p:sp>
      <p:sp>
        <p:nvSpPr>
          <p:cNvPr id="4" name="Text 2"/>
          <p:cNvSpPr/>
          <p:nvPr/>
        </p:nvSpPr>
        <p:spPr>
          <a:xfrm>
            <a:off x="7955280" y="365760"/>
            <a:ext cx="914400" cy="228600"/>
          </a:xfrm>
          <a:prstGeom prst="rect">
            <a:avLst/>
          </a:prstGeom>
          <a:noFill/>
          <a:ln/>
        </p:spPr>
        <p:txBody>
          <a:bodyPr wrap="square" lIns="0" tIns="0" rIns="0" bIns="0" rtlCol="0" anchor="ctr"/>
          <a:lstStyle/>
          <a:p>
            <a:pPr algn="r" indent="0" marL="0">
              <a:buNone/>
            </a:pPr>
            <a:r>
              <a:rPr lang="en-US" sz="900" b="1" spc="300" kern="0" dirty="0">
                <a:solidFill>
                  <a:srgbClr val="78716C"/>
                </a:solidFill>
                <a:latin typeface="Calibri" pitchFamily="34" charset="0"/>
                <a:ea typeface="Calibri" pitchFamily="34" charset="-122"/>
                <a:cs typeface="Calibri" pitchFamily="34" charset="-120"/>
              </a:rPr>
              <a:t>08</a:t>
            </a:r>
            <a:endParaRPr lang="en-US" sz="900" dirty="0"/>
          </a:p>
        </p:txBody>
      </p:sp>
      <p:sp>
        <p:nvSpPr>
          <p:cNvPr id="5" name="Shape 3"/>
          <p:cNvSpPr/>
          <p:nvPr/>
        </p:nvSpPr>
        <p:spPr>
          <a:xfrm>
            <a:off x="361188" y="1600200"/>
            <a:ext cx="2697480" cy="2423160"/>
          </a:xfrm>
          <a:prstGeom prst="rect">
            <a:avLst/>
          </a:prstGeom>
          <a:solidFill>
            <a:srgbClr val="FFFFFF"/>
          </a:solidFill>
          <a:ln w="6350">
            <a:solidFill>
              <a:srgbClr val="E7E5E4"/>
            </a:solidFill>
            <a:prstDash val="solid"/>
          </a:ln>
          <a:effectLst>
            <a:outerShdw sx="100000" sy="100000" kx="0" ky="0" algn="bl" rotWithShape="0" blurRad="152400" dist="38100" dir="5400000">
              <a:srgbClr val="000000">
                <a:alpha val="8000"/>
              </a:srgbClr>
            </a:outerShdw>
          </a:effectLst>
        </p:spPr>
      </p:sp>
      <p:sp>
        <p:nvSpPr>
          <p:cNvPr id="6" name="Shape 4"/>
          <p:cNvSpPr/>
          <p:nvPr/>
        </p:nvSpPr>
        <p:spPr>
          <a:xfrm>
            <a:off x="361188" y="1600200"/>
            <a:ext cx="54864" cy="2423160"/>
          </a:xfrm>
          <a:prstGeom prst="rect">
            <a:avLst/>
          </a:prstGeom>
          <a:solidFill>
            <a:srgbClr val="0D9488"/>
          </a:solidFill>
          <a:ln/>
        </p:spPr>
      </p:sp>
      <p:sp>
        <p:nvSpPr>
          <p:cNvPr id="7" name="Shape 5"/>
          <p:cNvSpPr/>
          <p:nvPr/>
        </p:nvSpPr>
        <p:spPr>
          <a:xfrm>
            <a:off x="635508" y="1874520"/>
            <a:ext cx="457200" cy="256032"/>
          </a:xfrm>
          <a:prstGeom prst="rect">
            <a:avLst/>
          </a:prstGeom>
          <a:solidFill>
            <a:srgbClr val="CCFBF1"/>
          </a:solidFill>
          <a:ln/>
        </p:spPr>
      </p:sp>
      <p:sp>
        <p:nvSpPr>
          <p:cNvPr id="8" name="Text 6"/>
          <p:cNvSpPr/>
          <p:nvPr/>
        </p:nvSpPr>
        <p:spPr>
          <a:xfrm>
            <a:off x="635508" y="1874520"/>
            <a:ext cx="457200" cy="256032"/>
          </a:xfrm>
          <a:prstGeom prst="rect">
            <a:avLst/>
          </a:prstGeom>
          <a:noFill/>
          <a:ln/>
        </p:spPr>
        <p:txBody>
          <a:bodyPr wrap="square" lIns="0" tIns="0" rIns="0" bIns="0" rtlCol="0" anchor="ctr"/>
          <a:lstStyle/>
          <a:p>
            <a:pPr algn="ctr" indent="0" marL="0">
              <a:buNone/>
            </a:pPr>
            <a:r>
              <a:rPr lang="en-US" sz="1000" b="1" spc="200" kern="0" dirty="0">
                <a:solidFill>
                  <a:srgbClr val="115E59"/>
                </a:solidFill>
                <a:latin typeface="Calibri" pitchFamily="34" charset="0"/>
                <a:ea typeface="Calibri" pitchFamily="34" charset="-122"/>
                <a:cs typeface="Calibri" pitchFamily="34" charset="-120"/>
              </a:rPr>
              <a:t>L1</a:t>
            </a:r>
            <a:endParaRPr lang="en-US" sz="1000" dirty="0"/>
          </a:p>
        </p:txBody>
      </p:sp>
      <p:sp>
        <p:nvSpPr>
          <p:cNvPr id="9" name="Text 7"/>
          <p:cNvSpPr/>
          <p:nvPr/>
        </p:nvSpPr>
        <p:spPr>
          <a:xfrm>
            <a:off x="635508" y="2286000"/>
            <a:ext cx="2148840" cy="640080"/>
          </a:xfrm>
          <a:prstGeom prst="rect">
            <a:avLst/>
          </a:prstGeom>
          <a:noFill/>
          <a:ln/>
        </p:spPr>
        <p:txBody>
          <a:bodyPr wrap="square" lIns="0" tIns="0" rIns="0" bIns="0" rtlCol="0" anchor="ctr"/>
          <a:lstStyle/>
          <a:p>
            <a:pPr indent="0" marL="0">
              <a:lnSpc>
                <a:spcPct val="115000"/>
              </a:lnSpc>
              <a:buNone/>
            </a:pPr>
            <a:r>
              <a:rPr lang="en-US" sz="1700" i="1" dirty="0">
                <a:solidFill>
                  <a:srgbClr val="1C1917"/>
                </a:solidFill>
                <a:latin typeface="Cambria" pitchFamily="34" charset="0"/>
                <a:ea typeface="Cambria" pitchFamily="34" charset="-122"/>
                <a:cs typeface="Cambria" pitchFamily="34" charset="-120"/>
              </a:rPr>
              <a:t>Holds no tenant data.</a:t>
            </a:r>
            <a:endParaRPr lang="en-US" sz="1700" dirty="0"/>
          </a:p>
        </p:txBody>
      </p:sp>
      <p:sp>
        <p:nvSpPr>
          <p:cNvPr id="10" name="Text 8"/>
          <p:cNvSpPr/>
          <p:nvPr/>
        </p:nvSpPr>
        <p:spPr>
          <a:xfrm>
            <a:off x="635508" y="3017520"/>
            <a:ext cx="2148840" cy="914400"/>
          </a:xfrm>
          <a:prstGeom prst="rect">
            <a:avLst/>
          </a:prstGeom>
          <a:noFill/>
          <a:ln/>
        </p:spPr>
        <p:txBody>
          <a:bodyPr wrap="square" lIns="0" tIns="0" rIns="0" bIns="0" rtlCol="0" anchor="ctr"/>
          <a:lstStyle/>
          <a:p>
            <a:pPr indent="0" marL="0">
              <a:lnSpc>
                <a:spcPct val="130000"/>
              </a:lnSpc>
              <a:buNone/>
            </a:pPr>
            <a:r>
              <a:rPr lang="en-US" sz="1150" dirty="0">
                <a:solidFill>
                  <a:srgbClr val="44403C"/>
                </a:solidFill>
                <a:latin typeface="Calibri" pitchFamily="34" charset="0"/>
                <a:ea typeface="Calibri" pitchFamily="34" charset="-122"/>
                <a:cs typeface="Calibri" pitchFamily="34" charset="-120"/>
              </a:rPr>
              <a:t>Just laws, internal rules, templates. Generic by design — nothing personal lives here.</a:t>
            </a:r>
            <a:endParaRPr lang="en-US" sz="1150" dirty="0"/>
          </a:p>
        </p:txBody>
      </p:sp>
      <p:sp>
        <p:nvSpPr>
          <p:cNvPr id="11" name="Shape 9"/>
          <p:cNvSpPr/>
          <p:nvPr/>
        </p:nvSpPr>
        <p:spPr>
          <a:xfrm>
            <a:off x="3223260" y="1600200"/>
            <a:ext cx="2697480" cy="2423160"/>
          </a:xfrm>
          <a:prstGeom prst="rect">
            <a:avLst/>
          </a:prstGeom>
          <a:solidFill>
            <a:srgbClr val="FFFFFF"/>
          </a:solidFill>
          <a:ln w="6350">
            <a:solidFill>
              <a:srgbClr val="E7E5E4"/>
            </a:solidFill>
            <a:prstDash val="solid"/>
          </a:ln>
          <a:effectLst>
            <a:outerShdw sx="100000" sy="100000" kx="0" ky="0" algn="bl" rotWithShape="0" blurRad="152400" dist="38100" dir="5400000">
              <a:srgbClr val="000000">
                <a:alpha val="8000"/>
              </a:srgbClr>
            </a:outerShdw>
          </a:effectLst>
        </p:spPr>
      </p:sp>
      <p:sp>
        <p:nvSpPr>
          <p:cNvPr id="12" name="Shape 10"/>
          <p:cNvSpPr/>
          <p:nvPr/>
        </p:nvSpPr>
        <p:spPr>
          <a:xfrm>
            <a:off x="3223260" y="1600200"/>
            <a:ext cx="54864" cy="2423160"/>
          </a:xfrm>
          <a:prstGeom prst="rect">
            <a:avLst/>
          </a:prstGeom>
          <a:solidFill>
            <a:srgbClr val="0D9488"/>
          </a:solidFill>
          <a:ln/>
        </p:spPr>
      </p:sp>
      <p:sp>
        <p:nvSpPr>
          <p:cNvPr id="13" name="Shape 11"/>
          <p:cNvSpPr/>
          <p:nvPr/>
        </p:nvSpPr>
        <p:spPr>
          <a:xfrm>
            <a:off x="3497580" y="1874520"/>
            <a:ext cx="457200" cy="256032"/>
          </a:xfrm>
          <a:prstGeom prst="rect">
            <a:avLst/>
          </a:prstGeom>
          <a:solidFill>
            <a:srgbClr val="CCFBF1"/>
          </a:solidFill>
          <a:ln/>
        </p:spPr>
      </p:sp>
      <p:sp>
        <p:nvSpPr>
          <p:cNvPr id="14" name="Text 12"/>
          <p:cNvSpPr/>
          <p:nvPr/>
        </p:nvSpPr>
        <p:spPr>
          <a:xfrm>
            <a:off x="3497580" y="1874520"/>
            <a:ext cx="457200" cy="256032"/>
          </a:xfrm>
          <a:prstGeom prst="rect">
            <a:avLst/>
          </a:prstGeom>
          <a:noFill/>
          <a:ln/>
        </p:spPr>
        <p:txBody>
          <a:bodyPr wrap="square" lIns="0" tIns="0" rIns="0" bIns="0" rtlCol="0" anchor="ctr"/>
          <a:lstStyle/>
          <a:p>
            <a:pPr algn="ctr" indent="0" marL="0">
              <a:buNone/>
            </a:pPr>
            <a:r>
              <a:rPr lang="en-US" sz="1000" b="1" spc="200" kern="0" dirty="0">
                <a:solidFill>
                  <a:srgbClr val="115E59"/>
                </a:solidFill>
                <a:latin typeface="Calibri" pitchFamily="34" charset="0"/>
                <a:ea typeface="Calibri" pitchFamily="34" charset="-122"/>
                <a:cs typeface="Calibri" pitchFamily="34" charset="-120"/>
              </a:rPr>
              <a:t>L2</a:t>
            </a:r>
            <a:endParaRPr lang="en-US" sz="1000" dirty="0"/>
          </a:p>
        </p:txBody>
      </p:sp>
      <p:sp>
        <p:nvSpPr>
          <p:cNvPr id="15" name="Text 13"/>
          <p:cNvSpPr/>
          <p:nvPr/>
        </p:nvSpPr>
        <p:spPr>
          <a:xfrm>
            <a:off x="3497580" y="2286000"/>
            <a:ext cx="2148840" cy="640080"/>
          </a:xfrm>
          <a:prstGeom prst="rect">
            <a:avLst/>
          </a:prstGeom>
          <a:noFill/>
          <a:ln/>
        </p:spPr>
        <p:txBody>
          <a:bodyPr wrap="square" lIns="0" tIns="0" rIns="0" bIns="0" rtlCol="0" anchor="ctr"/>
          <a:lstStyle/>
          <a:p>
            <a:pPr indent="0" marL="0">
              <a:lnSpc>
                <a:spcPct val="115000"/>
              </a:lnSpc>
              <a:buNone/>
            </a:pPr>
            <a:r>
              <a:rPr lang="en-US" sz="1700" i="1" dirty="0">
                <a:solidFill>
                  <a:srgbClr val="1C1917"/>
                </a:solidFill>
                <a:latin typeface="Cambria" pitchFamily="34" charset="0"/>
                <a:ea typeface="Cambria" pitchFamily="34" charset="-122"/>
                <a:cs typeface="Cambria" pitchFamily="34" charset="-120"/>
              </a:rPr>
              <a:t>Treated as operational data.</a:t>
            </a:r>
            <a:endParaRPr lang="en-US" sz="1700" dirty="0"/>
          </a:p>
        </p:txBody>
      </p:sp>
      <p:sp>
        <p:nvSpPr>
          <p:cNvPr id="16" name="Text 14"/>
          <p:cNvSpPr/>
          <p:nvPr/>
        </p:nvSpPr>
        <p:spPr>
          <a:xfrm>
            <a:off x="3497580" y="3017520"/>
            <a:ext cx="2148840" cy="914400"/>
          </a:xfrm>
          <a:prstGeom prst="rect">
            <a:avLst/>
          </a:prstGeom>
          <a:noFill/>
          <a:ln/>
        </p:spPr>
        <p:txBody>
          <a:bodyPr wrap="square" lIns="0" tIns="0" rIns="0" bIns="0" rtlCol="0" anchor="ctr"/>
          <a:lstStyle/>
          <a:p>
            <a:pPr indent="0" marL="0">
              <a:lnSpc>
                <a:spcPct val="130000"/>
              </a:lnSpc>
              <a:buNone/>
            </a:pPr>
            <a:r>
              <a:rPr lang="en-US" sz="1150" dirty="0">
                <a:solidFill>
                  <a:srgbClr val="44403C"/>
                </a:solidFill>
                <a:latin typeface="Calibri" pitchFamily="34" charset="0"/>
                <a:ea typeface="Calibri" pitchFamily="34" charset="-122"/>
                <a:cs typeface="Calibri" pitchFamily="34" charset="-120"/>
              </a:rPr>
              <a:t>Same controls as any property database — access policies, audit trails, retention rules.</a:t>
            </a:r>
            <a:endParaRPr lang="en-US" sz="1150" dirty="0"/>
          </a:p>
        </p:txBody>
      </p:sp>
      <p:sp>
        <p:nvSpPr>
          <p:cNvPr id="17" name="Shape 15"/>
          <p:cNvSpPr/>
          <p:nvPr/>
        </p:nvSpPr>
        <p:spPr>
          <a:xfrm>
            <a:off x="6085332" y="1600200"/>
            <a:ext cx="2697480" cy="2423160"/>
          </a:xfrm>
          <a:prstGeom prst="rect">
            <a:avLst/>
          </a:prstGeom>
          <a:solidFill>
            <a:srgbClr val="FFFFFF"/>
          </a:solidFill>
          <a:ln w="6350">
            <a:solidFill>
              <a:srgbClr val="E7E5E4"/>
            </a:solidFill>
            <a:prstDash val="solid"/>
          </a:ln>
          <a:effectLst>
            <a:outerShdw sx="100000" sy="100000" kx="0" ky="0" algn="bl" rotWithShape="0" blurRad="152400" dist="38100" dir="5400000">
              <a:srgbClr val="000000">
                <a:alpha val="8000"/>
              </a:srgbClr>
            </a:outerShdw>
          </a:effectLst>
        </p:spPr>
      </p:sp>
      <p:sp>
        <p:nvSpPr>
          <p:cNvPr id="18" name="Shape 16"/>
          <p:cNvSpPr/>
          <p:nvPr/>
        </p:nvSpPr>
        <p:spPr>
          <a:xfrm>
            <a:off x="6085332" y="1600200"/>
            <a:ext cx="54864" cy="2423160"/>
          </a:xfrm>
          <a:prstGeom prst="rect">
            <a:avLst/>
          </a:prstGeom>
          <a:solidFill>
            <a:srgbClr val="0D9488"/>
          </a:solidFill>
          <a:ln/>
        </p:spPr>
      </p:sp>
      <p:sp>
        <p:nvSpPr>
          <p:cNvPr id="19" name="Shape 17"/>
          <p:cNvSpPr/>
          <p:nvPr/>
        </p:nvSpPr>
        <p:spPr>
          <a:xfrm>
            <a:off x="6359652" y="1874520"/>
            <a:ext cx="457200" cy="256032"/>
          </a:xfrm>
          <a:prstGeom prst="rect">
            <a:avLst/>
          </a:prstGeom>
          <a:solidFill>
            <a:srgbClr val="CCFBF1"/>
          </a:solidFill>
          <a:ln/>
        </p:spPr>
      </p:sp>
      <p:sp>
        <p:nvSpPr>
          <p:cNvPr id="20" name="Text 18"/>
          <p:cNvSpPr/>
          <p:nvPr/>
        </p:nvSpPr>
        <p:spPr>
          <a:xfrm>
            <a:off x="6359652" y="1874520"/>
            <a:ext cx="457200" cy="256032"/>
          </a:xfrm>
          <a:prstGeom prst="rect">
            <a:avLst/>
          </a:prstGeom>
          <a:noFill/>
          <a:ln/>
        </p:spPr>
        <p:txBody>
          <a:bodyPr wrap="square" lIns="0" tIns="0" rIns="0" bIns="0" rtlCol="0" anchor="ctr"/>
          <a:lstStyle/>
          <a:p>
            <a:pPr algn="ctr" indent="0" marL="0">
              <a:buNone/>
            </a:pPr>
            <a:r>
              <a:rPr lang="en-US" sz="1000" b="1" spc="200" kern="0" dirty="0">
                <a:solidFill>
                  <a:srgbClr val="115E59"/>
                </a:solidFill>
                <a:latin typeface="Calibri" pitchFamily="34" charset="0"/>
                <a:ea typeface="Calibri" pitchFamily="34" charset="-122"/>
                <a:cs typeface="Calibri" pitchFamily="34" charset="-120"/>
              </a:rPr>
              <a:t>L3</a:t>
            </a:r>
            <a:endParaRPr lang="en-US" sz="1000" dirty="0"/>
          </a:p>
        </p:txBody>
      </p:sp>
      <p:sp>
        <p:nvSpPr>
          <p:cNvPr id="21" name="Text 19"/>
          <p:cNvSpPr/>
          <p:nvPr/>
        </p:nvSpPr>
        <p:spPr>
          <a:xfrm>
            <a:off x="6359652" y="2286000"/>
            <a:ext cx="2148840" cy="640080"/>
          </a:xfrm>
          <a:prstGeom prst="rect">
            <a:avLst/>
          </a:prstGeom>
          <a:noFill/>
          <a:ln/>
        </p:spPr>
        <p:txBody>
          <a:bodyPr wrap="square" lIns="0" tIns="0" rIns="0" bIns="0" rtlCol="0" anchor="ctr"/>
          <a:lstStyle/>
          <a:p>
            <a:pPr indent="0" marL="0">
              <a:lnSpc>
                <a:spcPct val="115000"/>
              </a:lnSpc>
              <a:buNone/>
            </a:pPr>
            <a:r>
              <a:rPr lang="en-US" sz="1700" i="1" dirty="0">
                <a:solidFill>
                  <a:srgbClr val="1C1917"/>
                </a:solidFill>
                <a:latin typeface="Cambria" pitchFamily="34" charset="0"/>
                <a:ea typeface="Cambria" pitchFamily="34" charset="-122"/>
                <a:cs typeface="Cambria" pitchFamily="34" charset="-120"/>
              </a:rPr>
              <a:t>Fully deletable on request.</a:t>
            </a:r>
            <a:endParaRPr lang="en-US" sz="1700" dirty="0"/>
          </a:p>
        </p:txBody>
      </p:sp>
      <p:sp>
        <p:nvSpPr>
          <p:cNvPr id="22" name="Text 20"/>
          <p:cNvSpPr/>
          <p:nvPr/>
        </p:nvSpPr>
        <p:spPr>
          <a:xfrm>
            <a:off x="6359652" y="3017520"/>
            <a:ext cx="2148840" cy="914400"/>
          </a:xfrm>
          <a:prstGeom prst="rect">
            <a:avLst/>
          </a:prstGeom>
          <a:noFill/>
          <a:ln/>
        </p:spPr>
        <p:txBody>
          <a:bodyPr wrap="square" lIns="0" tIns="0" rIns="0" bIns="0" rtlCol="0" anchor="ctr"/>
          <a:lstStyle/>
          <a:p>
            <a:pPr indent="0" marL="0">
              <a:lnSpc>
                <a:spcPct val="130000"/>
              </a:lnSpc>
              <a:buNone/>
            </a:pPr>
            <a:r>
              <a:rPr lang="en-US" sz="1150" dirty="0">
                <a:solidFill>
                  <a:srgbClr val="44403C"/>
                </a:solidFill>
                <a:latin typeface="Calibri" pitchFamily="34" charset="0"/>
                <a:ea typeface="Calibri" pitchFamily="34" charset="-122"/>
                <a:cs typeface="Calibri" pitchFamily="34" charset="-120"/>
              </a:rPr>
              <a:t>Every derived claim about a person can be removed alongside its source rows — GDPR-compliant.</a:t>
            </a:r>
            <a:endParaRPr lang="en-US" sz="1150" dirty="0"/>
          </a:p>
        </p:txBody>
      </p:sp>
      <p:pic>
        <p:nvPicPr>
          <p:cNvPr id="23" name="Image 0" descr="preencoded.png">    </p:cNvPr>
          <p:cNvPicPr>
            <a:picLocks noChangeAspect="1"/>
          </p:cNvPicPr>
          <p:nvPr/>
        </p:nvPicPr>
        <p:blipFill>
          <a:blip r:embed="rId1"/>
          <a:stretch>
            <a:fillRect/>
          </a:stretch>
        </p:blipFill>
        <p:spPr>
          <a:xfrm>
            <a:off x="457200" y="4297680"/>
            <a:ext cx="320040" cy="320040"/>
          </a:xfrm>
          <a:prstGeom prst="rect">
            <a:avLst/>
          </a:prstGeom>
        </p:spPr>
      </p:pic>
      <p:sp>
        <p:nvSpPr>
          <p:cNvPr id="24" name="Text 21"/>
          <p:cNvSpPr/>
          <p:nvPr/>
        </p:nvSpPr>
        <p:spPr>
          <a:xfrm>
            <a:off x="868680" y="4251960"/>
            <a:ext cx="7772400" cy="548640"/>
          </a:xfrm>
          <a:prstGeom prst="rect">
            <a:avLst/>
          </a:prstGeom>
          <a:noFill/>
          <a:ln/>
        </p:spPr>
        <p:txBody>
          <a:bodyPr wrap="square" lIns="0" tIns="0" rIns="0" bIns="0" rtlCol="0" anchor="ctr"/>
          <a:lstStyle/>
          <a:p>
            <a:pPr indent="0" marL="0">
              <a:lnSpc>
                <a:spcPct val="130000"/>
              </a:lnSpc>
              <a:buNone/>
            </a:pPr>
            <a:r>
              <a:rPr lang="en-US" sz="1400" i="1" dirty="0">
                <a:solidFill>
                  <a:srgbClr val="1C1917"/>
                </a:solidFill>
                <a:latin typeface="Cambria" pitchFamily="34" charset="0"/>
                <a:ea typeface="Cambria" pitchFamily="34" charset="-122"/>
                <a:cs typeface="Cambria" pitchFamily="34" charset="-120"/>
              </a:rPr>
              <a:t>Every recommendation Fletcher makes carries a source. Every source is traceable. Nothing in the shadows.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5E59"/>
        </a:solidFill>
      </p:bgPr>
    </p:bg>
    <p:spTree>
      <p:nvGrpSpPr>
        <p:cNvPr id="1" name=""/>
        <p:cNvGrpSpPr/>
        <p:nvPr/>
      </p:nvGrpSpPr>
      <p:grpSpPr>
        <a:xfrm>
          <a:off x="0" y="0"/>
          <a:ext cx="0" cy="0"/>
          <a:chOff x="0" y="0"/>
          <a:chExt cx="0" cy="0"/>
        </a:xfrm>
      </p:grpSpPr>
      <p:sp>
        <p:nvSpPr>
          <p:cNvPr id="2" name="Text 0"/>
          <p:cNvSpPr/>
          <p:nvPr/>
        </p:nvSpPr>
        <p:spPr>
          <a:xfrm>
            <a:off x="640080" y="502920"/>
            <a:ext cx="2743200" cy="457200"/>
          </a:xfrm>
          <a:prstGeom prst="rect">
            <a:avLst/>
          </a:prstGeom>
          <a:noFill/>
          <a:ln/>
        </p:spPr>
        <p:txBody>
          <a:bodyPr wrap="square" lIns="0" tIns="0" rIns="0" bIns="0" rtlCol="0" anchor="ctr"/>
          <a:lstStyle/>
          <a:p>
            <a:pPr indent="0" marL="0">
              <a:buNone/>
            </a:pPr>
            <a:r>
              <a:rPr lang="en-US" sz="2600" i="1" dirty="0">
                <a:solidFill>
                  <a:srgbClr val="FFFFFF"/>
                </a:solidFill>
                <a:latin typeface="Cambria" pitchFamily="34" charset="0"/>
                <a:ea typeface="Cambria" pitchFamily="34" charset="-122"/>
                <a:cs typeface="Cambria" pitchFamily="34" charset="-120"/>
              </a:rPr>
              <a:t>Fletcher</a:t>
            </a:r>
            <a:endParaRPr lang="en-US" sz="2600" dirty="0"/>
          </a:p>
        </p:txBody>
      </p:sp>
      <p:sp>
        <p:nvSpPr>
          <p:cNvPr id="3" name="Text 1"/>
          <p:cNvSpPr/>
          <p:nvPr/>
        </p:nvSpPr>
        <p:spPr>
          <a:xfrm>
            <a:off x="822960" y="1600200"/>
            <a:ext cx="7498080" cy="1828800"/>
          </a:xfrm>
          <a:prstGeom prst="rect">
            <a:avLst/>
          </a:prstGeom>
          <a:noFill/>
          <a:ln/>
        </p:spPr>
        <p:txBody>
          <a:bodyPr wrap="square" lIns="0" tIns="0" rIns="0" bIns="0" rtlCol="0" anchor="ctr"/>
          <a:lstStyle/>
          <a:p>
            <a:pPr indent="0" marL="0">
              <a:lnSpc>
                <a:spcPct val="125000"/>
              </a:lnSpc>
              <a:buNone/>
            </a:pPr>
            <a:r>
              <a:rPr lang="en-US" sz="3000" i="1" dirty="0">
                <a:solidFill>
                  <a:srgbClr val="FFFFFF"/>
                </a:solidFill>
                <a:latin typeface="Cambria" pitchFamily="34" charset="0"/>
                <a:ea typeface="Cambria" pitchFamily="34" charset="-122"/>
                <a:cs typeface="Cambria" pitchFamily="34" charset="-120"/>
              </a:rPr>
              <a:t>"The contextual knowledge a 20-year property manager carries in their head — externalised, queryable, and never forgotten."</a:t>
            </a:r>
            <a:endParaRPr lang="en-US" sz="3000" dirty="0"/>
          </a:p>
        </p:txBody>
      </p:sp>
      <p:sp>
        <p:nvSpPr>
          <p:cNvPr id="4" name="Shape 2"/>
          <p:cNvSpPr/>
          <p:nvPr/>
        </p:nvSpPr>
        <p:spPr>
          <a:xfrm>
            <a:off x="822960" y="3566160"/>
            <a:ext cx="548640" cy="18288"/>
          </a:xfrm>
          <a:prstGeom prst="rect">
            <a:avLst/>
          </a:prstGeom>
          <a:solidFill>
            <a:srgbClr val="5EEAD4"/>
          </a:solidFill>
          <a:ln/>
        </p:spPr>
      </p:sp>
      <p:sp>
        <p:nvSpPr>
          <p:cNvPr id="5" name="Text 3"/>
          <p:cNvSpPr/>
          <p:nvPr/>
        </p:nvSpPr>
        <p:spPr>
          <a:xfrm>
            <a:off x="822960" y="3657600"/>
            <a:ext cx="7498080" cy="411480"/>
          </a:xfrm>
          <a:prstGeom prst="rect">
            <a:avLst/>
          </a:prstGeom>
          <a:noFill/>
          <a:ln/>
        </p:spPr>
        <p:txBody>
          <a:bodyPr wrap="square" lIns="0" tIns="0" rIns="0" bIns="0" rtlCol="0" anchor="ctr"/>
          <a:lstStyle/>
          <a:p>
            <a:pPr indent="0" marL="0">
              <a:buNone/>
            </a:pPr>
            <a:r>
              <a:rPr lang="en-US" sz="1600" b="1" dirty="0">
                <a:solidFill>
                  <a:srgbClr val="5EEAD4"/>
                </a:solidFill>
                <a:latin typeface="Calibri" pitchFamily="34" charset="0"/>
                <a:ea typeface="Calibri" pitchFamily="34" charset="-122"/>
                <a:cs typeface="Calibri" pitchFamily="34" charset="-120"/>
              </a:rPr>
              <a:t>Three stores. One co-pilot. Zero invented citations.</a:t>
            </a:r>
            <a:endParaRPr lang="en-US" sz="1600" dirty="0"/>
          </a:p>
        </p:txBody>
      </p:sp>
      <p:sp>
        <p:nvSpPr>
          <p:cNvPr id="6" name="Text 4"/>
          <p:cNvSpPr/>
          <p:nvPr/>
        </p:nvSpPr>
        <p:spPr>
          <a:xfrm>
            <a:off x="822960" y="4663440"/>
            <a:ext cx="7498080" cy="274320"/>
          </a:xfrm>
          <a:prstGeom prst="rect">
            <a:avLst/>
          </a:prstGeom>
          <a:noFill/>
          <a:ln/>
        </p:spPr>
        <p:txBody>
          <a:bodyPr wrap="square" lIns="0" tIns="0" rIns="0" bIns="0" rtlCol="0" anchor="ctr"/>
          <a:lstStyle/>
          <a:p>
            <a:pPr indent="0" marL="0">
              <a:buNone/>
            </a:pPr>
            <a:r>
              <a:rPr lang="en-US" sz="1000" i="1" dirty="0">
                <a:solidFill>
                  <a:srgbClr val="99F6E4"/>
                </a:solidFill>
                <a:latin typeface="Calibri" pitchFamily="34" charset="0"/>
                <a:ea typeface="Calibri" pitchFamily="34" charset="-122"/>
                <a:cs typeface="Calibri" pitchFamily="34" charset="-120"/>
              </a:rPr>
              <a:t>getfletcher.ai · built at the Applied AI Hackathon, May 2026</a:t>
            </a:r>
            <a:endParaRPr lang="en-US" sz="1000" dirty="0"/>
          </a:p>
        </p:txBody>
      </p:sp>
      <p:sp>
        <p:nvSpPr>
          <p:cNvPr id="7" name="Shape 5"/>
          <p:cNvSpPr/>
          <p:nvPr/>
        </p:nvSpPr>
        <p:spPr>
          <a:xfrm>
            <a:off x="7589520" y="822960"/>
            <a:ext cx="73152" cy="73152"/>
          </a:xfrm>
          <a:prstGeom prst="ellipse">
            <a:avLst/>
          </a:prstGeom>
          <a:solidFill>
            <a:srgbClr val="14B8A6">
              <a:alpha val="50000"/>
            </a:srgbClr>
          </a:solidFill>
          <a:ln/>
        </p:spPr>
      </p:sp>
      <p:sp>
        <p:nvSpPr>
          <p:cNvPr id="8" name="Shape 6"/>
          <p:cNvSpPr/>
          <p:nvPr/>
        </p:nvSpPr>
        <p:spPr>
          <a:xfrm>
            <a:off x="7909560" y="822960"/>
            <a:ext cx="73152" cy="73152"/>
          </a:xfrm>
          <a:prstGeom prst="ellipse">
            <a:avLst/>
          </a:prstGeom>
          <a:solidFill>
            <a:srgbClr val="14B8A6">
              <a:alpha val="50000"/>
            </a:srgbClr>
          </a:solidFill>
          <a:ln/>
        </p:spPr>
      </p:sp>
      <p:sp>
        <p:nvSpPr>
          <p:cNvPr id="9" name="Shape 7"/>
          <p:cNvSpPr/>
          <p:nvPr/>
        </p:nvSpPr>
        <p:spPr>
          <a:xfrm>
            <a:off x="8229600" y="822960"/>
            <a:ext cx="73152" cy="73152"/>
          </a:xfrm>
          <a:prstGeom prst="ellipse">
            <a:avLst/>
          </a:prstGeom>
          <a:solidFill>
            <a:srgbClr val="14B8A6">
              <a:alpha val="50000"/>
            </a:srgbClr>
          </a:solidFill>
          <a:ln/>
        </p:spPr>
      </p:sp>
      <p:sp>
        <p:nvSpPr>
          <p:cNvPr id="10" name="Shape 8"/>
          <p:cNvSpPr/>
          <p:nvPr/>
        </p:nvSpPr>
        <p:spPr>
          <a:xfrm>
            <a:off x="7589520" y="1371600"/>
            <a:ext cx="73152" cy="73152"/>
          </a:xfrm>
          <a:prstGeom prst="ellipse">
            <a:avLst/>
          </a:prstGeom>
          <a:solidFill>
            <a:srgbClr val="14B8A6">
              <a:alpha val="50000"/>
            </a:srgbClr>
          </a:solidFill>
          <a:ln/>
        </p:spPr>
      </p:sp>
      <p:sp>
        <p:nvSpPr>
          <p:cNvPr id="11" name="Shape 9"/>
          <p:cNvSpPr/>
          <p:nvPr/>
        </p:nvSpPr>
        <p:spPr>
          <a:xfrm>
            <a:off x="7909560" y="1371600"/>
            <a:ext cx="73152" cy="73152"/>
          </a:xfrm>
          <a:prstGeom prst="ellipse">
            <a:avLst/>
          </a:prstGeom>
          <a:solidFill>
            <a:srgbClr val="14B8A6">
              <a:alpha val="50000"/>
            </a:srgbClr>
          </a:solidFill>
          <a:ln/>
        </p:spPr>
      </p:sp>
      <p:sp>
        <p:nvSpPr>
          <p:cNvPr id="12" name="Shape 10"/>
          <p:cNvSpPr/>
          <p:nvPr/>
        </p:nvSpPr>
        <p:spPr>
          <a:xfrm>
            <a:off x="8229600" y="1371600"/>
            <a:ext cx="73152" cy="73152"/>
          </a:xfrm>
          <a:prstGeom prst="ellipse">
            <a:avLst/>
          </a:prstGeom>
          <a:solidFill>
            <a:srgbClr val="14B8A6">
              <a:alpha val="50000"/>
            </a:srgbClr>
          </a:solidFill>
          <a:ln/>
        </p:spPr>
      </p:sp>
      <p:sp>
        <p:nvSpPr>
          <p:cNvPr id="13" name="Shape 11"/>
          <p:cNvSpPr/>
          <p:nvPr/>
        </p:nvSpPr>
        <p:spPr>
          <a:xfrm>
            <a:off x="7589520" y="1920240"/>
            <a:ext cx="73152" cy="73152"/>
          </a:xfrm>
          <a:prstGeom prst="ellipse">
            <a:avLst/>
          </a:prstGeom>
          <a:solidFill>
            <a:srgbClr val="14B8A6">
              <a:alpha val="50000"/>
            </a:srgbClr>
          </a:solidFill>
          <a:ln/>
        </p:spPr>
      </p:sp>
      <p:sp>
        <p:nvSpPr>
          <p:cNvPr id="14" name="Shape 12"/>
          <p:cNvSpPr/>
          <p:nvPr/>
        </p:nvSpPr>
        <p:spPr>
          <a:xfrm>
            <a:off x="7909560" y="1920240"/>
            <a:ext cx="73152" cy="73152"/>
          </a:xfrm>
          <a:prstGeom prst="ellipse">
            <a:avLst/>
          </a:prstGeom>
          <a:solidFill>
            <a:srgbClr val="14B8A6">
              <a:alpha val="50000"/>
            </a:srgbClr>
          </a:solidFill>
          <a:ln/>
        </p:spPr>
      </p:sp>
      <p:sp>
        <p:nvSpPr>
          <p:cNvPr id="15" name="Shape 13"/>
          <p:cNvSpPr/>
          <p:nvPr/>
        </p:nvSpPr>
        <p:spPr>
          <a:xfrm>
            <a:off x="8229600" y="1920240"/>
            <a:ext cx="73152" cy="73152"/>
          </a:xfrm>
          <a:prstGeom prst="ellipse">
            <a:avLst/>
          </a:prstGeom>
          <a:solidFill>
            <a:srgbClr val="14B8A6">
              <a:alpha val="50000"/>
            </a:srgbClr>
          </a:solidFill>
          <a:ln/>
        </p:spPr>
      </p:sp>
      <p:sp>
        <p:nvSpPr>
          <p:cNvPr id="16" name="Shape 14"/>
          <p:cNvSpPr/>
          <p:nvPr/>
        </p:nvSpPr>
        <p:spPr>
          <a:xfrm>
            <a:off x="7589520" y="2468880"/>
            <a:ext cx="73152" cy="73152"/>
          </a:xfrm>
          <a:prstGeom prst="ellipse">
            <a:avLst/>
          </a:prstGeom>
          <a:solidFill>
            <a:srgbClr val="14B8A6">
              <a:alpha val="50000"/>
            </a:srgbClr>
          </a:solidFill>
          <a:ln/>
        </p:spPr>
      </p:sp>
      <p:sp>
        <p:nvSpPr>
          <p:cNvPr id="17" name="Shape 15"/>
          <p:cNvSpPr/>
          <p:nvPr/>
        </p:nvSpPr>
        <p:spPr>
          <a:xfrm>
            <a:off x="7909560" y="2468880"/>
            <a:ext cx="73152" cy="73152"/>
          </a:xfrm>
          <a:prstGeom prst="ellipse">
            <a:avLst/>
          </a:prstGeom>
          <a:solidFill>
            <a:srgbClr val="14B8A6">
              <a:alpha val="50000"/>
            </a:srgbClr>
          </a:solidFill>
          <a:ln/>
        </p:spPr>
      </p:sp>
      <p:sp>
        <p:nvSpPr>
          <p:cNvPr id="18" name="Shape 16"/>
          <p:cNvSpPr/>
          <p:nvPr/>
        </p:nvSpPr>
        <p:spPr>
          <a:xfrm>
            <a:off x="8229600" y="2468880"/>
            <a:ext cx="73152" cy="73152"/>
          </a:xfrm>
          <a:prstGeom prst="ellipse">
            <a:avLst/>
          </a:prstGeom>
          <a:solidFill>
            <a:srgbClr val="14B8A6">
              <a:alpha val="50000"/>
            </a:srgbClr>
          </a:solidFill>
          <a:ln/>
        </p:spPr>
      </p:sp>
      <p:sp>
        <p:nvSpPr>
          <p:cNvPr id="19" name="Shape 17"/>
          <p:cNvSpPr/>
          <p:nvPr/>
        </p:nvSpPr>
        <p:spPr>
          <a:xfrm>
            <a:off x="7589520" y="3017520"/>
            <a:ext cx="73152" cy="73152"/>
          </a:xfrm>
          <a:prstGeom prst="ellipse">
            <a:avLst/>
          </a:prstGeom>
          <a:solidFill>
            <a:srgbClr val="14B8A6">
              <a:alpha val="50000"/>
            </a:srgbClr>
          </a:solidFill>
          <a:ln/>
        </p:spPr>
      </p:sp>
      <p:sp>
        <p:nvSpPr>
          <p:cNvPr id="20" name="Shape 18"/>
          <p:cNvSpPr/>
          <p:nvPr/>
        </p:nvSpPr>
        <p:spPr>
          <a:xfrm>
            <a:off x="7909560" y="3017520"/>
            <a:ext cx="73152" cy="73152"/>
          </a:xfrm>
          <a:prstGeom prst="ellipse">
            <a:avLst/>
          </a:prstGeom>
          <a:solidFill>
            <a:srgbClr val="14B8A6">
              <a:alpha val="50000"/>
            </a:srgbClr>
          </a:solidFill>
          <a:ln/>
        </p:spPr>
      </p:sp>
      <p:sp>
        <p:nvSpPr>
          <p:cNvPr id="21" name="Shape 19"/>
          <p:cNvSpPr/>
          <p:nvPr/>
        </p:nvSpPr>
        <p:spPr>
          <a:xfrm>
            <a:off x="8229600" y="3017520"/>
            <a:ext cx="73152" cy="73152"/>
          </a:xfrm>
          <a:prstGeom prst="ellipse">
            <a:avLst/>
          </a:prstGeom>
          <a:solidFill>
            <a:srgbClr val="14B8A6">
              <a:alpha val="50000"/>
            </a:srgbClr>
          </a:solidFill>
          <a:ln/>
        </p:spPr>
      </p:sp>
      <p:sp>
        <p:nvSpPr>
          <p:cNvPr id="22" name="Shape 20"/>
          <p:cNvSpPr/>
          <p:nvPr/>
        </p:nvSpPr>
        <p:spPr>
          <a:xfrm>
            <a:off x="7589520" y="3566160"/>
            <a:ext cx="73152" cy="73152"/>
          </a:xfrm>
          <a:prstGeom prst="ellipse">
            <a:avLst/>
          </a:prstGeom>
          <a:solidFill>
            <a:srgbClr val="14B8A6">
              <a:alpha val="50000"/>
            </a:srgbClr>
          </a:solidFill>
          <a:ln/>
        </p:spPr>
      </p:sp>
      <p:sp>
        <p:nvSpPr>
          <p:cNvPr id="23" name="Shape 21"/>
          <p:cNvSpPr/>
          <p:nvPr/>
        </p:nvSpPr>
        <p:spPr>
          <a:xfrm>
            <a:off x="7909560" y="3566160"/>
            <a:ext cx="73152" cy="73152"/>
          </a:xfrm>
          <a:prstGeom prst="ellipse">
            <a:avLst/>
          </a:prstGeom>
          <a:solidFill>
            <a:srgbClr val="14B8A6">
              <a:alpha val="50000"/>
            </a:srgbClr>
          </a:solidFill>
          <a:ln/>
        </p:spPr>
      </p:sp>
      <p:sp>
        <p:nvSpPr>
          <p:cNvPr id="24" name="Shape 22"/>
          <p:cNvSpPr/>
          <p:nvPr/>
        </p:nvSpPr>
        <p:spPr>
          <a:xfrm>
            <a:off x="8229600" y="3566160"/>
            <a:ext cx="73152" cy="73152"/>
          </a:xfrm>
          <a:prstGeom prst="ellipse">
            <a:avLst/>
          </a:prstGeom>
          <a:solidFill>
            <a:srgbClr val="14B8A6">
              <a:alpha val="50000"/>
            </a:srgbClr>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Fletcher — Where the knowledge lives</dc:title>
  <dc:subject>PptxGenJS Presentation</dc:subject>
  <dc:creator>Fletcher team</dc:creator>
  <cp:lastModifiedBy>Fletcher team</cp:lastModifiedBy>
  <cp:revision>1</cp:revision>
  <dcterms:created xsi:type="dcterms:W3CDTF">2026-05-24T07:55:25Z</dcterms:created>
  <dcterms:modified xsi:type="dcterms:W3CDTF">2026-05-24T07:55:25Z</dcterms:modified>
</cp:coreProperties>
</file>